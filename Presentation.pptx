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89" r:id="rId2"/>
    <p:sldId id="258" r:id="rId3"/>
    <p:sldId id="271" r:id="rId4"/>
    <p:sldId id="259" r:id="rId5"/>
    <p:sldId id="260" r:id="rId6"/>
    <p:sldId id="272" r:id="rId7"/>
    <p:sldId id="261" r:id="rId8"/>
    <p:sldId id="263" r:id="rId9"/>
    <p:sldId id="273" r:id="rId10"/>
    <p:sldId id="274" r:id="rId11"/>
    <p:sldId id="275" r:id="rId12"/>
    <p:sldId id="276" r:id="rId13"/>
    <p:sldId id="277" r:id="rId14"/>
    <p:sldId id="284" r:id="rId15"/>
    <p:sldId id="278" r:id="rId16"/>
    <p:sldId id="280" r:id="rId17"/>
    <p:sldId id="282" r:id="rId18"/>
    <p:sldId id="283" r:id="rId19"/>
    <p:sldId id="281" r:id="rId20"/>
    <p:sldId id="268" r:id="rId21"/>
    <p:sldId id="269" r:id="rId22"/>
    <p:sldId id="286" r:id="rId23"/>
    <p:sldId id="285" r:id="rId24"/>
    <p:sldId id="279" r:id="rId25"/>
    <p:sldId id="270" r:id="rId26"/>
    <p:sldId id="288" r:id="rId27"/>
    <p:sldId id="287" r:id="rId28"/>
    <p:sldId id="290"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525" autoAdjust="0"/>
  </p:normalViewPr>
  <p:slideViewPr>
    <p:cSldViewPr snapToGrid="0" snapToObjects="1">
      <p:cViewPr varScale="1">
        <p:scale>
          <a:sx n="63" d="100"/>
          <a:sy n="63" d="100"/>
        </p:scale>
        <p:origin x="90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28256E-3B15-46DB-9730-D8BD421784DF}" type="datetimeFigureOut">
              <a:rPr lang="en-US" smtClean="0"/>
              <a:t>8/31/2025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419A5A-EF45-4B76-B301-5DC6BCC271E7}" type="slidenum">
              <a:rPr lang="en-US" smtClean="0"/>
              <a:t>‹#›</a:t>
            </a:fld>
            <a:endParaRPr lang="en-US"/>
          </a:p>
        </p:txBody>
      </p:sp>
    </p:spTree>
    <p:extLst>
      <p:ext uri="{BB962C8B-B14F-4D97-AF65-F5344CB8AC3E}">
        <p14:creationId xmlns:p14="http://schemas.microsoft.com/office/powerpoint/2010/main" val="3007411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Aptos" panose="020B0004020202020204" pitchFamily="34" charset="0"/>
              </a:rPr>
              <a:t>The evaluation metrics used to assess performance in basketball currently use some form of summation which ignores the dynamic and contextual intricacies of a game’s flow. Moreover, the notion of momentum which is quite popular among players, coaches, and analysts is defined in a highly vague and is poorly quantified manner which makes it inefficient for strategic planning. The problem is how to effectively model player impact and game momentum using event timestamped data without spatiotemporal tracking: using tracking data that follows the flow of in-game actions, context, and timing. An event-driven approach to analyzing the outcomes of basketball performances could be very useful in reconstructing performance analysis for more effective multi-level strategies.</a:t>
            </a:r>
            <a:endParaRPr lang="en-US" dirty="0"/>
          </a:p>
        </p:txBody>
      </p:sp>
      <p:sp>
        <p:nvSpPr>
          <p:cNvPr id="4" name="Slide Number Placeholder 3"/>
          <p:cNvSpPr>
            <a:spLocks noGrp="1"/>
          </p:cNvSpPr>
          <p:nvPr>
            <p:ph type="sldNum" sz="quarter" idx="5"/>
          </p:nvPr>
        </p:nvSpPr>
        <p:spPr/>
        <p:txBody>
          <a:bodyPr/>
          <a:lstStyle/>
          <a:p>
            <a:fld id="{55419A5A-EF45-4B76-B301-5DC6BCC271E7}" type="slidenum">
              <a:rPr lang="en-US" smtClean="0"/>
              <a:t>4</a:t>
            </a:fld>
            <a:endParaRPr lang="en-US"/>
          </a:p>
        </p:txBody>
      </p:sp>
    </p:spTree>
    <p:extLst>
      <p:ext uri="{BB962C8B-B14F-4D97-AF65-F5344CB8AC3E}">
        <p14:creationId xmlns:p14="http://schemas.microsoft.com/office/powerpoint/2010/main" val="2011770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b="1" dirty="0"/>
              <a:t>Player Impact Estimation</a:t>
            </a:r>
            <a:endParaRPr lang="en-US" sz="1200" dirty="0"/>
          </a:p>
          <a:p>
            <a:pPr>
              <a:buFont typeface="Arial" panose="020B0604020202020204" pitchFamily="34" charset="0"/>
              <a:buChar char="•"/>
            </a:pPr>
            <a:r>
              <a:rPr lang="en-US" sz="1200" dirty="0"/>
              <a:t>The </a:t>
            </a:r>
            <a:r>
              <a:rPr lang="en-US" sz="1200" b="1" dirty="0"/>
              <a:t>LASSO logistic regression model</a:t>
            </a:r>
            <a:r>
              <a:rPr lang="en-US" sz="1200" dirty="0"/>
              <a:t> served as a transparent and interpretable baseline, directly linking players and event types to positive or negative outcomes.</a:t>
            </a:r>
          </a:p>
          <a:p>
            <a:pPr>
              <a:buFont typeface="Arial" panose="020B0604020202020204" pitchFamily="34" charset="0"/>
              <a:buChar char="•"/>
            </a:pPr>
            <a:r>
              <a:rPr lang="en-US" sz="1200" dirty="0"/>
              <a:t>The </a:t>
            </a:r>
            <a:r>
              <a:rPr lang="en-US" sz="1200" b="1" dirty="0" err="1"/>
              <a:t>XGBoost</a:t>
            </a:r>
            <a:r>
              <a:rPr lang="en-US" sz="1200" b="1" dirty="0"/>
              <a:t> classifier</a:t>
            </a:r>
            <a:r>
              <a:rPr lang="en-US" sz="1200" dirty="0"/>
              <a:t> improved predictive performance, achieving ~69% F1 compared to ~64% for LASSO. Crucially, it captured non-linear effects such as lineup synergies and context-dependent player performance. SHAP values confirmed the critical influence of rebounds, shot-making, and fouls.</a:t>
            </a:r>
          </a:p>
          <a:p>
            <a:pPr marL="0" indent="0">
              <a:buNone/>
            </a:pPr>
            <a:r>
              <a:rPr lang="en-US" sz="1200" b="1" dirty="0"/>
              <a:t>Momentum Phase Classification</a:t>
            </a:r>
            <a:endParaRPr lang="en-US" sz="1200" dirty="0"/>
          </a:p>
          <a:p>
            <a:pPr>
              <a:buFont typeface="Arial" panose="020B0604020202020204" pitchFamily="34" charset="0"/>
              <a:buChar char="•"/>
            </a:pPr>
            <a:r>
              <a:rPr lang="en-US" sz="1200" dirty="0"/>
              <a:t>Using </a:t>
            </a:r>
            <a:r>
              <a:rPr lang="en-US" sz="1200" b="1" dirty="0"/>
              <a:t>Bayesian change-point detection</a:t>
            </a:r>
            <a:r>
              <a:rPr lang="en-US" sz="1200" dirty="0"/>
              <a:t> and a </a:t>
            </a:r>
            <a:r>
              <a:rPr lang="en-US" sz="1200" b="1" dirty="0"/>
              <a:t>Random Forest classifier</a:t>
            </a:r>
            <a:r>
              <a:rPr lang="en-US" sz="1200" dirty="0"/>
              <a:t>, momentum phases were modelled into positive, neutral, and negative states.</a:t>
            </a:r>
          </a:p>
          <a:p>
            <a:pPr>
              <a:buFont typeface="Arial" panose="020B0604020202020204" pitchFamily="34" charset="0"/>
              <a:buChar char="•"/>
            </a:pPr>
            <a:r>
              <a:rPr lang="en-US" sz="1200" dirty="0"/>
              <a:t>The Random Forest achieved ~74% accuracy, with score differential, time remaining, and rolling metrics emerging as primary drivers of game flow.</a:t>
            </a:r>
          </a:p>
          <a:p>
            <a:endParaRPr lang="en-US" dirty="0"/>
          </a:p>
        </p:txBody>
      </p:sp>
      <p:sp>
        <p:nvSpPr>
          <p:cNvPr id="4" name="Slide Number Placeholder 3"/>
          <p:cNvSpPr>
            <a:spLocks noGrp="1"/>
          </p:cNvSpPr>
          <p:nvPr>
            <p:ph type="sldNum" sz="quarter" idx="5"/>
          </p:nvPr>
        </p:nvSpPr>
        <p:spPr/>
        <p:txBody>
          <a:bodyPr/>
          <a:lstStyle/>
          <a:p>
            <a:fld id="{55419A5A-EF45-4B76-B301-5DC6BCC271E7}" type="slidenum">
              <a:rPr lang="en-US" smtClean="0"/>
              <a:t>25</a:t>
            </a:fld>
            <a:endParaRPr lang="en-US"/>
          </a:p>
        </p:txBody>
      </p:sp>
    </p:spTree>
    <p:extLst>
      <p:ext uri="{BB962C8B-B14F-4D97-AF65-F5344CB8AC3E}">
        <p14:creationId xmlns:p14="http://schemas.microsoft.com/office/powerpoint/2010/main" val="1528569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Integration of Spatial Data</a:t>
            </a:r>
            <a:r>
              <a:rPr lang="en-US" dirty="0"/>
              <a:t> – Incorporating player tracking data to capture spacing, defensive pressure, and off-ball activity.</a:t>
            </a:r>
          </a:p>
          <a:p>
            <a:r>
              <a:rPr lang="en-US" b="1" dirty="0"/>
              <a:t>Advanced Temporal Models</a:t>
            </a:r>
            <a:r>
              <a:rPr lang="en-US" dirty="0"/>
              <a:t> – Leveraging sequence models such as LSTMs or Temporal Convolutional Networks to capture long-range dependencies.</a:t>
            </a:r>
          </a:p>
          <a:p>
            <a:r>
              <a:rPr lang="en-US" b="1" dirty="0"/>
              <a:t>Enhanced Player Embeddings</a:t>
            </a:r>
            <a:r>
              <a:rPr lang="en-US" dirty="0"/>
              <a:t> – Applying representation learning to discover latent player synergies, matchup tendencies, and context-sensitive roles.</a:t>
            </a:r>
          </a:p>
          <a:p>
            <a:r>
              <a:rPr lang="en-US" b="1" dirty="0"/>
              <a:t>Real-Time Deployment</a:t>
            </a:r>
            <a:r>
              <a:rPr lang="en-US" dirty="0"/>
              <a:t> – Extending the Streamlit dashboard into a live system for </a:t>
            </a:r>
            <a:r>
              <a:rPr lang="en-US" b="1" dirty="0"/>
              <a:t>in-game decision support</a:t>
            </a:r>
            <a:r>
              <a:rPr lang="en-US" dirty="0"/>
              <a:t> with real-time alerts.</a:t>
            </a:r>
          </a:p>
          <a:p>
            <a:r>
              <a:rPr lang="en-US" b="1" dirty="0"/>
              <a:t>Cross-Sport Adaptability</a:t>
            </a:r>
            <a:r>
              <a:rPr lang="en-US" dirty="0"/>
              <a:t> – Applying the framework to other sports with event-based logging, enabling comparative studies of momentum and player impact.</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By integrating LASSO, </a:t>
            </a:r>
            <a:r>
              <a:rPr lang="en-US" dirty="0" err="1"/>
              <a:t>XGBoost</a:t>
            </a:r>
            <a:r>
              <a:rPr lang="en-US" dirty="0"/>
              <a:t>, and Random Forests, this dissertation contributes a </a:t>
            </a:r>
            <a:r>
              <a:rPr lang="en-US" b="1" dirty="0"/>
              <a:t>multi-layered analytical framework</a:t>
            </a:r>
            <a:r>
              <a:rPr lang="en-US" dirty="0"/>
              <a:t> capable of evaluating both individual player contributions and team momentum shifts. Balancing </a:t>
            </a:r>
            <a:r>
              <a:rPr lang="en-US" b="1" dirty="0"/>
              <a:t>accuracy with interpretability</a:t>
            </a:r>
            <a:r>
              <a:rPr lang="en-US" dirty="0"/>
              <a:t>, the work not only advances basketball analytics but also lays the groundwork for </a:t>
            </a:r>
            <a:r>
              <a:rPr lang="en-US" b="1" dirty="0"/>
              <a:t>future real-time, data-driven decision support systems</a:t>
            </a:r>
            <a:r>
              <a:rPr lang="en-US" dirty="0"/>
              <a:t> in professional sports.</a:t>
            </a:r>
          </a:p>
          <a:p>
            <a:endParaRPr lang="en-US" dirty="0"/>
          </a:p>
        </p:txBody>
      </p:sp>
      <p:sp>
        <p:nvSpPr>
          <p:cNvPr id="4" name="Slide Number Placeholder 3"/>
          <p:cNvSpPr>
            <a:spLocks noGrp="1"/>
          </p:cNvSpPr>
          <p:nvPr>
            <p:ph type="sldNum" sz="quarter" idx="5"/>
          </p:nvPr>
        </p:nvSpPr>
        <p:spPr/>
        <p:txBody>
          <a:bodyPr/>
          <a:lstStyle/>
          <a:p>
            <a:fld id="{55419A5A-EF45-4B76-B301-5DC6BCC271E7}" type="slidenum">
              <a:rPr lang="en-US" smtClean="0"/>
              <a:t>27</a:t>
            </a:fld>
            <a:endParaRPr lang="en-US"/>
          </a:p>
        </p:txBody>
      </p:sp>
    </p:spTree>
    <p:extLst>
      <p:ext uri="{BB962C8B-B14F-4D97-AF65-F5344CB8AC3E}">
        <p14:creationId xmlns:p14="http://schemas.microsoft.com/office/powerpoint/2010/main" val="3295523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A85E2E1-0C70-4BD6-AE7F-811268FEFAE4}" type="datetime1">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EB8D13-E7D7-4BE1-898B-80F68C30A1DC}" type="datetime1">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6EE60D-607E-4EBE-90F6-7178BF604F34}" type="datetime1">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A957271-570C-49C6-9966-B9D33CD62C86}" type="datetime1">
              <a:rPr lang="en-US" smtClean="0"/>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00A3EC-2505-4FF0-ACEC-D0ABE1EB15D9}" type="datetime1">
              <a:rPr lang="en-US" smtClean="0"/>
              <a:t>9/1/2025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25F16C-CAE6-4E2A-86A9-C9C8B5587F94}" type="datetime1">
              <a:rPr lang="en-US" smtClean="0"/>
              <a:t>9/1/2025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0BFA74-6BB9-413E-A57E-C4AF7EAE0B00}" type="datetime1">
              <a:rPr lang="en-US" smtClean="0"/>
              <a:t>9/1/2025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002290B-DF6D-4DEA-9600-049610810184}" type="datetime1">
              <a:rPr lang="en-US" smtClean="0"/>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D68D7C-C7AC-45DD-ACF9-B8493AF48B84}" type="datetime1">
              <a:rPr lang="en-US" smtClean="0"/>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E4FCCB-D4C8-4581-89A3-1F1F684D5D8F}" type="datetime1">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BB92EA-A905-475F-A841-7EF103E53AB9}" type="datetime1">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13513F-881F-47FB-B64C-481C558D864D}" type="datetime1">
              <a:rPr lang="en-US" smtClean="0"/>
              <a:t>9/1/2025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9.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young person holding a basketball&#10;&#10;AI-generated content may be incorrect.">
            <a:extLst>
              <a:ext uri="{FF2B5EF4-FFF2-40B4-BE49-F238E27FC236}">
                <a16:creationId xmlns:a16="http://schemas.microsoft.com/office/drawing/2014/main" id="{C09D3FB0-BC15-F811-176F-9002A54190A5}"/>
              </a:ext>
            </a:extLst>
          </p:cNvPr>
          <p:cNvPicPr>
            <a:picLocks noChangeAspect="1"/>
          </p:cNvPicPr>
          <p:nvPr/>
        </p:nvPicPr>
        <p:blipFill>
          <a:blip r:embed="rId2"/>
          <a:srcRect l="9515" r="32959" b="9091"/>
          <a:stretch>
            <a:fillRect/>
          </a:stretch>
        </p:blipFill>
        <p:spPr>
          <a:xfrm>
            <a:off x="2642616" y="10"/>
            <a:ext cx="6501384" cy="6857990"/>
          </a:xfrm>
          <a:prstGeom prst="rect">
            <a:avLst/>
          </a:prstGeom>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2318657A-32CD-C7D9-1D02-4320C9CDE70F}"/>
              </a:ext>
            </a:extLst>
          </p:cNvPr>
          <p:cNvSpPr txBox="1"/>
          <p:nvPr/>
        </p:nvSpPr>
        <p:spPr>
          <a:xfrm>
            <a:off x="442304" y="1589881"/>
            <a:ext cx="4845976" cy="3678237"/>
          </a:xfrm>
          <a:prstGeom prst="rect">
            <a:avLst/>
          </a:prstGeom>
        </p:spPr>
        <p:txBody>
          <a:bodyPr vert="horz" lIns="91440" tIns="45720" rIns="91440" bIns="45720" rtlCol="0" anchor="b">
            <a:noAutofit/>
          </a:bodyPr>
          <a:lstStyle/>
          <a:p>
            <a:pPr marL="0" indent="0" defTabSz="914400">
              <a:lnSpc>
                <a:spcPct val="90000"/>
              </a:lnSpc>
              <a:spcBef>
                <a:spcPct val="0"/>
              </a:spcBef>
              <a:spcAft>
                <a:spcPts val="600"/>
              </a:spcAft>
            </a:pPr>
            <a:r>
              <a:rPr lang="en-US" sz="44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Modelling Player Impact and Game Momentum in Professional Basketball Using Temporal Event Analysis</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93A04CD5-D232-30A7-8D93-53274DF84988}"/>
              </a:ext>
            </a:extLst>
          </p:cNvPr>
          <p:cNvSpPr>
            <a:spLocks noGrp="1"/>
          </p:cNvSpPr>
          <p:nvPr>
            <p:ph type="sldNum" sz="quarter" idx="12"/>
          </p:nvPr>
        </p:nvSpPr>
        <p:spPr>
          <a:xfrm>
            <a:off x="6736080" y="6356350"/>
            <a:ext cx="2133600" cy="365125"/>
          </a:xfrm>
        </p:spPr>
        <p:txBody>
          <a:bodyPr/>
          <a:lstStyle/>
          <a:p>
            <a:fld id="{EDDFFE05-CF67-4AAF-9E78-B524091323A8}" type="slidenum">
              <a:rPr lang="en-US" sz="2000">
                <a:solidFill>
                  <a:schemeClr val="bg1"/>
                </a:solidFill>
                <a:latin typeface="Times New Roman" panose="02020603050405020304" pitchFamily="18" charset="0"/>
                <a:cs typeface="Times New Roman" panose="02020603050405020304" pitchFamily="18" charset="0"/>
              </a:rPr>
              <a:t>1</a:t>
            </a:fld>
            <a:endParaRPr lang="en-US"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5454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28160" y="121921"/>
            <a:ext cx="4587405" cy="1846251"/>
          </a:xfrm>
        </p:spPr>
        <p:txBody>
          <a:bodyPr>
            <a:normAutofit/>
          </a:bodyPr>
          <a:lstStyle/>
          <a:p>
            <a:pPr>
              <a:lnSpc>
                <a:spcPct val="90000"/>
              </a:lnSpc>
            </a:pPr>
            <a:r>
              <a:rPr kumimoji="0" lang="en-US" sz="40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Introduction (Industry Context &amp; Problem)</a:t>
            </a:r>
            <a:endParaRPr lang="en-US" sz="4000" dirty="0">
              <a:latin typeface="Times New Roman" panose="02020603050405020304" pitchFamily="18" charset="0"/>
              <a:cs typeface="Times New Roman" panose="02020603050405020304" pitchFamily="18" charset="0"/>
            </a:endParaRPr>
          </a:p>
        </p:txBody>
      </p:sp>
      <p:pic>
        <p:nvPicPr>
          <p:cNvPr id="5" name="Picture 4" descr="A basketball going into a hoop&#10;&#10;AI-generated content may be incorrect.">
            <a:extLst>
              <a:ext uri="{FF2B5EF4-FFF2-40B4-BE49-F238E27FC236}">
                <a16:creationId xmlns:a16="http://schemas.microsoft.com/office/drawing/2014/main" id="{ECE353E7-6F96-626E-19E2-D9D23C04477D}"/>
              </a:ext>
            </a:extLst>
          </p:cNvPr>
          <p:cNvPicPr>
            <a:picLocks noChangeAspect="1"/>
          </p:cNvPicPr>
          <p:nvPr/>
        </p:nvPicPr>
        <p:blipFill>
          <a:blip r:embed="rId2"/>
          <a:srcRect l="17952" r="15157"/>
          <a:stretch>
            <a:fillRect/>
          </a:stretch>
        </p:blipFill>
        <p:spPr>
          <a:xfrm>
            <a:off x="20" y="10"/>
            <a:ext cx="4587406"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p:cNvSpPr>
            <a:spLocks noGrp="1"/>
          </p:cNvSpPr>
          <p:nvPr>
            <p:ph idx="1"/>
          </p:nvPr>
        </p:nvSpPr>
        <p:spPr>
          <a:xfrm>
            <a:off x="4457793" y="2033238"/>
            <a:ext cx="4587406" cy="4524703"/>
          </a:xfrm>
        </p:spPr>
        <p:txBody>
          <a:bodyPr>
            <a:noAutofit/>
          </a:bodyPr>
          <a:lstStyle/>
          <a:p>
            <a:pPr>
              <a:lnSpc>
                <a:spcPct val="9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Global Sports Growth</a:t>
            </a:r>
            <a:r>
              <a:rPr lang="en-US" sz="1800" dirty="0">
                <a:latin typeface="Times New Roman" panose="02020603050405020304" pitchFamily="18" charset="0"/>
                <a:cs typeface="Times New Roman" panose="02020603050405020304" pitchFamily="18" charset="0"/>
              </a:rPr>
              <a:t>: Revenues projected to grow from </a:t>
            </a:r>
            <a:r>
              <a:rPr lang="en-US" sz="1800" b="1" dirty="0">
                <a:latin typeface="Times New Roman" panose="02020603050405020304" pitchFamily="18" charset="0"/>
                <a:cs typeface="Times New Roman" panose="02020603050405020304" pitchFamily="18" charset="0"/>
              </a:rPr>
              <a:t>$486.6B (2022) → $623.6B (2027)</a:t>
            </a:r>
            <a:r>
              <a:rPr lang="en-US" sz="1800" dirty="0">
                <a:latin typeface="Times New Roman" panose="02020603050405020304" pitchFamily="18" charset="0"/>
                <a:cs typeface="Times New Roman" panose="02020603050405020304" pitchFamily="18" charset="0"/>
              </a:rPr>
              <a:t> (Statista, 2023).</a:t>
            </a:r>
          </a:p>
          <a:p>
            <a:pPr>
              <a:lnSpc>
                <a:spcPct val="9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Rise of Analytics</a:t>
            </a:r>
            <a:r>
              <a:rPr lang="en-US" sz="1800" dirty="0">
                <a:latin typeface="Times New Roman" panose="02020603050405020304" pitchFamily="18" charset="0"/>
                <a:cs typeface="Times New Roman" panose="02020603050405020304" pitchFamily="18" charset="0"/>
              </a:rPr>
              <a:t>: From </a:t>
            </a:r>
            <a:r>
              <a:rPr lang="en-US" sz="1800" i="1" dirty="0">
                <a:latin typeface="Times New Roman" panose="02020603050405020304" pitchFamily="18" charset="0"/>
                <a:cs typeface="Times New Roman" panose="02020603050405020304" pitchFamily="18" charset="0"/>
              </a:rPr>
              <a:t>Moneyball</a:t>
            </a:r>
            <a:r>
              <a:rPr lang="en-US" sz="1800" dirty="0">
                <a:latin typeface="Times New Roman" panose="02020603050405020304" pitchFamily="18" charset="0"/>
                <a:cs typeface="Times New Roman" panose="02020603050405020304" pitchFamily="18" charset="0"/>
              </a:rPr>
              <a:t> (Lewis, 2004) to NBA adoption of data-driven performance strategies.</a:t>
            </a:r>
          </a:p>
          <a:p>
            <a:pPr>
              <a:lnSpc>
                <a:spcPct val="9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Player Impact Challenge</a:t>
            </a:r>
            <a:r>
              <a:rPr lang="en-US" sz="1800" dirty="0">
                <a:latin typeface="Times New Roman" panose="02020603050405020304" pitchFamily="18" charset="0"/>
                <a:cs typeface="Times New Roman" panose="02020603050405020304" pitchFamily="18" charset="0"/>
              </a:rPr>
              <a:t>: Traditional stats (points, plus-minus) miss context (assists, defense, pressure).</a:t>
            </a:r>
          </a:p>
          <a:p>
            <a:pPr>
              <a:lnSpc>
                <a:spcPct val="9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Momentum Debate</a:t>
            </a:r>
            <a:r>
              <a:rPr lang="en-US" sz="1800" dirty="0">
                <a:latin typeface="Times New Roman" panose="02020603050405020304" pitchFamily="18" charset="0"/>
                <a:cs typeface="Times New Roman" panose="02020603050405020304" pitchFamily="18" charset="0"/>
              </a:rPr>
              <a:t>:</a:t>
            </a:r>
          </a:p>
          <a:p>
            <a:pPr marL="742950" lvl="1" indent="-285750">
              <a:lnSpc>
                <a:spcPct val="9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Widely referenced in basketball culture.</a:t>
            </a:r>
          </a:p>
          <a:p>
            <a:pPr marL="742950" lvl="1" indent="-285750">
              <a:lnSpc>
                <a:spcPct val="9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Academics divided: illusion vs. measurable effect.</a:t>
            </a:r>
          </a:p>
          <a:p>
            <a:pPr marL="742950" lvl="1" indent="-285750">
              <a:lnSpc>
                <a:spcPct val="9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Recent studies (Weimer et al., 2023) show causal impact on team scoring.</a:t>
            </a:r>
          </a:p>
        </p:txBody>
      </p:sp>
      <p:sp>
        <p:nvSpPr>
          <p:cNvPr id="6" name="Slide Number Placeholder 5">
            <a:extLst>
              <a:ext uri="{FF2B5EF4-FFF2-40B4-BE49-F238E27FC236}">
                <a16:creationId xmlns:a16="http://schemas.microsoft.com/office/drawing/2014/main" id="{BD81F29A-5C74-804E-DBA6-31DBC6798C74}"/>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2</a:t>
            </a:fld>
            <a:endParaRPr lang="en-US" sz="2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F72E36-AE47-C254-43B0-C441485FE4D7}"/>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055942B6-08F8-8A2C-3568-CC4BDBAA173B}"/>
              </a:ext>
            </a:extLst>
          </p:cNvPr>
          <p:cNvSpPr>
            <a:spLocks noGrp="1"/>
          </p:cNvSpPr>
          <p:nvPr>
            <p:ph type="title"/>
          </p:nvPr>
        </p:nvSpPr>
        <p:spPr>
          <a:xfrm>
            <a:off x="628650" y="448721"/>
            <a:ext cx="5726430" cy="1225650"/>
          </a:xfrm>
        </p:spPr>
        <p:txBody>
          <a:bodyPr anchor="b">
            <a:normAutofit/>
          </a:bodyPr>
          <a:lstStyle/>
          <a:p>
            <a:pPr>
              <a:lnSpc>
                <a:spcPct val="90000"/>
              </a:lnSpc>
            </a:pPr>
            <a:r>
              <a:rPr lang="en-US" sz="3200" dirty="0">
                <a:solidFill>
                  <a:schemeClr val="bg1"/>
                </a:solidFill>
                <a:latin typeface="Times New Roman" panose="02020603050405020304" pitchFamily="18" charset="0"/>
                <a:cs typeface="Times New Roman" panose="02020603050405020304" pitchFamily="18" charset="0"/>
              </a:rPr>
              <a:t>Introduction (Research Focus &amp; Contribution)</a:t>
            </a:r>
          </a:p>
        </p:txBody>
      </p:sp>
      <p:cxnSp>
        <p:nvCxnSpPr>
          <p:cNvPr id="23" name="Straight Connector 22">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3904" y="1749756"/>
            <a:ext cx="353872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Rectangle 3">
            <a:extLst>
              <a:ext uri="{FF2B5EF4-FFF2-40B4-BE49-F238E27FC236}">
                <a16:creationId xmlns:a16="http://schemas.microsoft.com/office/drawing/2014/main" id="{4EE75AD7-26EB-9E64-D1EB-49E8FE295020}"/>
              </a:ext>
            </a:extLst>
          </p:cNvPr>
          <p:cNvSpPr>
            <a:spLocks noGrp="1" noChangeArrowheads="1"/>
          </p:cNvSpPr>
          <p:nvPr>
            <p:ph idx="1"/>
          </p:nvPr>
        </p:nvSpPr>
        <p:spPr bwMode="auto">
          <a:xfrm>
            <a:off x="673326" y="1909193"/>
            <a:ext cx="7067894" cy="264813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a:lnSpc>
                <a:spcPct val="90000"/>
              </a:lnSpc>
              <a:buFont typeface="Arial" panose="020B0604020202020204" pitchFamily="34" charset="0"/>
              <a:buChar char="•"/>
            </a:pPr>
            <a:r>
              <a:rPr lang="en-US" sz="1600" b="1" dirty="0">
                <a:solidFill>
                  <a:schemeClr val="bg1"/>
                </a:solidFill>
                <a:latin typeface="Times New Roman" panose="02020603050405020304" pitchFamily="18" charset="0"/>
                <a:cs typeface="Times New Roman" panose="02020603050405020304" pitchFamily="18" charset="0"/>
              </a:rPr>
              <a:t>Data Source</a:t>
            </a:r>
            <a:r>
              <a:rPr lang="en-US" sz="1600" dirty="0">
                <a:solidFill>
                  <a:schemeClr val="bg1"/>
                </a:solidFill>
                <a:latin typeface="Times New Roman" panose="02020603050405020304" pitchFamily="18" charset="0"/>
                <a:cs typeface="Times New Roman" panose="02020603050405020304" pitchFamily="18" charset="0"/>
              </a:rPr>
              <a:t>: Event-based NBA logs (scoring plays, fouls, substitutions, rebounds).</a:t>
            </a:r>
          </a:p>
          <a:p>
            <a:pPr marL="742950" lvl="1" indent="-285750">
              <a:lnSpc>
                <a:spcPct val="9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Rich temporal &amp; categorical info, but no spatial tracking.</a:t>
            </a:r>
          </a:p>
          <a:p>
            <a:pPr>
              <a:lnSpc>
                <a:spcPct val="90000"/>
              </a:lnSpc>
              <a:buFont typeface="Arial" panose="020B0604020202020204" pitchFamily="34" charset="0"/>
              <a:buChar char="•"/>
            </a:pPr>
            <a:r>
              <a:rPr lang="en-US" sz="1600" b="1" dirty="0">
                <a:solidFill>
                  <a:schemeClr val="bg1"/>
                </a:solidFill>
                <a:latin typeface="Times New Roman" panose="02020603050405020304" pitchFamily="18" charset="0"/>
                <a:cs typeface="Times New Roman" panose="02020603050405020304" pitchFamily="18" charset="0"/>
              </a:rPr>
              <a:t>Gap in Literature</a:t>
            </a:r>
            <a:r>
              <a:rPr lang="en-US" sz="1600" dirty="0">
                <a:solidFill>
                  <a:schemeClr val="bg1"/>
                </a:solidFill>
                <a:latin typeface="Times New Roman" panose="02020603050405020304" pitchFamily="18" charset="0"/>
                <a:cs typeface="Times New Roman" panose="02020603050405020304" pitchFamily="18" charset="0"/>
              </a:rPr>
              <a:t>:</a:t>
            </a:r>
          </a:p>
          <a:p>
            <a:pPr marL="742950" lvl="1" indent="-285750">
              <a:lnSpc>
                <a:spcPct val="9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Existing models rely on cumulative stats.</a:t>
            </a:r>
          </a:p>
          <a:p>
            <a:pPr marL="742950" lvl="1" indent="-285750">
              <a:lnSpc>
                <a:spcPct val="9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Lack of real-time, sequential context for tactical insights.</a:t>
            </a:r>
          </a:p>
          <a:p>
            <a:pPr>
              <a:lnSpc>
                <a:spcPct val="90000"/>
              </a:lnSpc>
              <a:buFont typeface="Arial" panose="020B0604020202020204" pitchFamily="34" charset="0"/>
              <a:buChar char="•"/>
            </a:pPr>
            <a:r>
              <a:rPr lang="en-US" sz="1600" b="1" dirty="0">
                <a:solidFill>
                  <a:schemeClr val="bg1"/>
                </a:solidFill>
                <a:latin typeface="Times New Roman" panose="02020603050405020304" pitchFamily="18" charset="0"/>
                <a:cs typeface="Times New Roman" panose="02020603050405020304" pitchFamily="18" charset="0"/>
              </a:rPr>
              <a:t>This Study Develops</a:t>
            </a:r>
            <a:r>
              <a:rPr lang="en-US" sz="1600" dirty="0">
                <a:solidFill>
                  <a:schemeClr val="bg1"/>
                </a:solidFill>
                <a:latin typeface="Times New Roman" panose="02020603050405020304" pitchFamily="18" charset="0"/>
                <a:cs typeface="Times New Roman" panose="02020603050405020304" pitchFamily="18" charset="0"/>
              </a:rPr>
              <a:t>:</a:t>
            </a:r>
          </a:p>
          <a:p>
            <a:pPr marL="742950" lvl="1" indent="-285750">
              <a:lnSpc>
                <a:spcPct val="9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A </a:t>
            </a:r>
            <a:r>
              <a:rPr lang="en-US" sz="1600" b="1" dirty="0">
                <a:solidFill>
                  <a:schemeClr val="bg1"/>
                </a:solidFill>
                <a:latin typeface="Times New Roman" panose="02020603050405020304" pitchFamily="18" charset="0"/>
                <a:cs typeface="Times New Roman" panose="02020603050405020304" pitchFamily="18" charset="0"/>
              </a:rPr>
              <a:t>temporal event-based framework</a:t>
            </a:r>
            <a:r>
              <a:rPr lang="en-US" sz="1600" dirty="0">
                <a:solidFill>
                  <a:schemeClr val="bg1"/>
                </a:solidFill>
                <a:latin typeface="Times New Roman" panose="02020603050405020304" pitchFamily="18" charset="0"/>
                <a:cs typeface="Times New Roman" panose="02020603050405020304" pitchFamily="18" charset="0"/>
              </a:rPr>
              <a:t> for basketball analytics.</a:t>
            </a:r>
          </a:p>
          <a:p>
            <a:pPr marL="742950" lvl="1" indent="-285750">
              <a:lnSpc>
                <a:spcPct val="9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Methods: </a:t>
            </a:r>
            <a:r>
              <a:rPr lang="en-US" sz="1600" b="1" dirty="0">
                <a:solidFill>
                  <a:schemeClr val="bg1"/>
                </a:solidFill>
                <a:latin typeface="Times New Roman" panose="02020603050405020304" pitchFamily="18" charset="0"/>
                <a:cs typeface="Times New Roman" panose="02020603050405020304" pitchFamily="18" charset="0"/>
              </a:rPr>
              <a:t>change-point detection, unsupervised clustering, temporal feature engineering</a:t>
            </a:r>
            <a:r>
              <a:rPr lang="en-US" sz="1600" dirty="0">
                <a:solidFill>
                  <a:schemeClr val="bg1"/>
                </a:solidFill>
                <a:latin typeface="Times New Roman" panose="02020603050405020304" pitchFamily="18" charset="0"/>
                <a:cs typeface="Times New Roman" panose="02020603050405020304" pitchFamily="18" charset="0"/>
              </a:rPr>
              <a:t>.</a:t>
            </a:r>
          </a:p>
          <a:p>
            <a:pPr marL="742950" lvl="1" indent="-285750">
              <a:lnSpc>
                <a:spcPct val="9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Models to:</a:t>
            </a:r>
          </a:p>
          <a:p>
            <a:pPr marL="1143000" lvl="2" indent="-228600">
              <a:lnSpc>
                <a:spcPct val="9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Capture </a:t>
            </a:r>
            <a:r>
              <a:rPr lang="en-US" sz="1600" b="1" dirty="0">
                <a:solidFill>
                  <a:schemeClr val="bg1"/>
                </a:solidFill>
                <a:latin typeface="Times New Roman" panose="02020603050405020304" pitchFamily="18" charset="0"/>
                <a:cs typeface="Times New Roman" panose="02020603050405020304" pitchFamily="18" charset="0"/>
              </a:rPr>
              <a:t>player impact holistically</a:t>
            </a:r>
            <a:r>
              <a:rPr lang="en-US" sz="1600" dirty="0">
                <a:solidFill>
                  <a:schemeClr val="bg1"/>
                </a:solidFill>
                <a:latin typeface="Times New Roman" panose="02020603050405020304" pitchFamily="18" charset="0"/>
                <a:cs typeface="Times New Roman" panose="02020603050405020304" pitchFamily="18" charset="0"/>
              </a:rPr>
              <a:t>.</a:t>
            </a:r>
          </a:p>
          <a:p>
            <a:pPr marL="1143000" lvl="2" indent="-228600">
              <a:lnSpc>
                <a:spcPct val="9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Detect </a:t>
            </a:r>
            <a:r>
              <a:rPr lang="en-US" sz="1600" b="1" dirty="0">
                <a:solidFill>
                  <a:schemeClr val="bg1"/>
                </a:solidFill>
                <a:latin typeface="Times New Roman" panose="02020603050405020304" pitchFamily="18" charset="0"/>
                <a:cs typeface="Times New Roman" panose="02020603050405020304" pitchFamily="18" charset="0"/>
              </a:rPr>
              <a:t>momentum shifts</a:t>
            </a:r>
            <a:r>
              <a:rPr lang="en-US" sz="1600" dirty="0">
                <a:solidFill>
                  <a:schemeClr val="bg1"/>
                </a:solidFill>
                <a:latin typeface="Times New Roman" panose="02020603050405020304" pitchFamily="18" charset="0"/>
                <a:cs typeface="Times New Roman" panose="02020603050405020304" pitchFamily="18" charset="0"/>
              </a:rPr>
              <a:t>.</a:t>
            </a:r>
          </a:p>
          <a:p>
            <a:pPr marL="1143000" lvl="2" indent="-228600">
              <a:lnSpc>
                <a:spcPct val="9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Attribute responsibility to </a:t>
            </a:r>
            <a:r>
              <a:rPr lang="en-US" sz="1600" b="1" dirty="0">
                <a:solidFill>
                  <a:schemeClr val="bg1"/>
                </a:solidFill>
                <a:latin typeface="Times New Roman" panose="02020603050405020304" pitchFamily="18" charset="0"/>
                <a:cs typeface="Times New Roman" panose="02020603050405020304" pitchFamily="18" charset="0"/>
              </a:rPr>
              <a:t>specific players/actions</a:t>
            </a:r>
            <a:r>
              <a:rPr lang="en-US" sz="1600" dirty="0">
                <a:solidFill>
                  <a:schemeClr val="bg1"/>
                </a:solidFill>
                <a:latin typeface="Times New Roman" panose="02020603050405020304" pitchFamily="18" charset="0"/>
                <a:cs typeface="Times New Roman" panose="02020603050405020304" pitchFamily="18" charset="0"/>
              </a:rPr>
              <a:t>.</a:t>
            </a:r>
          </a:p>
        </p:txBody>
      </p:sp>
      <p:cxnSp>
        <p:nvCxnSpPr>
          <p:cNvPr id="25" name="Straight Connector 24">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5520" y="5707672"/>
            <a:ext cx="353549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Picture 3" descr="A diagram of a basketball player&#10;&#10;AI-generated content may be incorrect.">
            <a:extLst>
              <a:ext uri="{FF2B5EF4-FFF2-40B4-BE49-F238E27FC236}">
                <a16:creationId xmlns:a16="http://schemas.microsoft.com/office/drawing/2014/main" id="{615EE964-8ADC-0D43-F009-FB1B6A9879E1}"/>
              </a:ext>
            </a:extLst>
          </p:cNvPr>
          <p:cNvPicPr>
            <a:picLocks noChangeAspect="1"/>
          </p:cNvPicPr>
          <p:nvPr/>
        </p:nvPicPr>
        <p:blipFill>
          <a:blip r:embed="rId2"/>
          <a:stretch>
            <a:fillRect/>
          </a:stretch>
        </p:blipFill>
        <p:spPr>
          <a:xfrm>
            <a:off x="6983730" y="904459"/>
            <a:ext cx="1811493" cy="2969485"/>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Slide Number Placeholder 4">
            <a:extLst>
              <a:ext uri="{FF2B5EF4-FFF2-40B4-BE49-F238E27FC236}">
                <a16:creationId xmlns:a16="http://schemas.microsoft.com/office/drawing/2014/main" id="{16902562-DAED-FD2A-9ED9-680378240CB8}"/>
              </a:ext>
            </a:extLst>
          </p:cNvPr>
          <p:cNvSpPr>
            <a:spLocks noGrp="1"/>
          </p:cNvSpPr>
          <p:nvPr>
            <p:ph type="sldNum" sz="quarter" idx="12"/>
          </p:nvPr>
        </p:nvSpPr>
        <p:spPr/>
        <p:txBody>
          <a:bodyPr/>
          <a:lstStyle/>
          <a:p>
            <a:fld id="{C1FF6DA9-008F-8B48-92A6-B652298478BF}" type="slidenum">
              <a:rPr lang="en-US" sz="2000" smtClean="0">
                <a:solidFill>
                  <a:schemeClr val="bg1"/>
                </a:solidFill>
                <a:latin typeface="Times New Roman" panose="02020603050405020304" pitchFamily="18" charset="0"/>
                <a:cs typeface="Times New Roman" panose="02020603050405020304" pitchFamily="18" charset="0"/>
              </a:rPr>
              <a:t>3</a:t>
            </a:fld>
            <a:endParaRPr lang="en-US"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6571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person looking through a magnifying glass&#10;&#10;AI-generated content may be incorrect.">
            <a:extLst>
              <a:ext uri="{FF2B5EF4-FFF2-40B4-BE49-F238E27FC236}">
                <a16:creationId xmlns:a16="http://schemas.microsoft.com/office/drawing/2014/main" id="{65085563-E2BA-FE2F-E7E1-B867579E127F}"/>
              </a:ext>
            </a:extLst>
          </p:cNvPr>
          <p:cNvPicPr>
            <a:picLocks noChangeAspect="1"/>
          </p:cNvPicPr>
          <p:nvPr/>
        </p:nvPicPr>
        <p:blipFill>
          <a:blip r:embed="rId3"/>
          <a:stretch>
            <a:fillRect/>
          </a:stretch>
        </p:blipFill>
        <p:spPr>
          <a:xfrm>
            <a:off x="1883784" y="3560660"/>
            <a:ext cx="2726006" cy="2305422"/>
          </a:xfrm>
          <a:prstGeom prst="rect">
            <a:avLst/>
          </a:prstGeom>
        </p:spPr>
      </p:pic>
      <p:grpSp>
        <p:nvGrpSpPr>
          <p:cNvPr id="25" name="Group 24">
            <a:extLst>
              <a:ext uri="{FF2B5EF4-FFF2-40B4-BE49-F238E27FC236}">
                <a16:creationId xmlns:a16="http://schemas.microsoft.com/office/drawing/2014/main" id="{134CC3FF-7AA4-46F4-8B24-2F9383D86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9133" y="805742"/>
            <a:ext cx="2735827" cy="3193211"/>
            <a:chOff x="1674895" y="1345036"/>
            <a:chExt cx="5428610" cy="4210939"/>
          </a:xfrm>
        </p:grpSpPr>
        <p:sp>
          <p:nvSpPr>
            <p:cNvPr id="26" name="Rectangle 25">
              <a:extLst>
                <a:ext uri="{FF2B5EF4-FFF2-40B4-BE49-F238E27FC236}">
                  <a16:creationId xmlns:a16="http://schemas.microsoft.com/office/drawing/2014/main" id="{275E42E8-8B96-4FF0-9DCC-7E2084C0FD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8FEA8A4-ED0E-429C-884B-1599153B8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CAEBFCD5-5356-4326-8D39-8235A46CD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486" y="685805"/>
            <a:ext cx="2718710" cy="319321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55438" y="859808"/>
            <a:ext cx="2657397" cy="2878986"/>
          </a:xfrm>
        </p:spPr>
        <p:txBody>
          <a:bodyPr>
            <a:normAutofit/>
          </a:bodyPr>
          <a:lstStyle/>
          <a:p>
            <a:r>
              <a:rPr lang="en-US">
                <a:solidFill>
                  <a:schemeClr val="bg1"/>
                </a:solidFill>
              </a:rPr>
              <a:t>Research Problem</a:t>
            </a:r>
          </a:p>
        </p:txBody>
      </p:sp>
      <p:grpSp>
        <p:nvGrpSpPr>
          <p:cNvPr id="31" name="Graphic 4">
            <a:extLst>
              <a:ext uri="{FF2B5EF4-FFF2-40B4-BE49-F238E27FC236}">
                <a16:creationId xmlns:a16="http://schemas.microsoft.com/office/drawing/2014/main" id="{5F2AA49C-5AC0-41C7-BFAF-74B8D8293C8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516806" y="2335801"/>
            <a:ext cx="637026" cy="849366"/>
            <a:chOff x="5829300" y="3162300"/>
            <a:chExt cx="532256" cy="532257"/>
          </a:xfrm>
          <a:solidFill>
            <a:srgbClr val="FFFFFF"/>
          </a:solidFill>
        </p:grpSpPr>
        <p:sp>
          <p:nvSpPr>
            <p:cNvPr id="32" name="Freeform: Shape 31">
              <a:extLst>
                <a:ext uri="{FF2B5EF4-FFF2-40B4-BE49-F238E27FC236}">
                  <a16:creationId xmlns:a16="http://schemas.microsoft.com/office/drawing/2014/main" id="{88A750A0-64B5-41B2-B525-A914EB40B3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F8216C77-85C1-4BDC-87A8-7E7593320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471AED48-754E-41AC-9ECC-DB25976447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48005417-D297-404F-82A5-8C4393E85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17F942D6-2D0C-4894-81F0-6F81714BA4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4FAD802E-9670-4B80-876B-3FF64D29A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838AF437-0BFB-40E4-ADA0-5749919AAC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F8BC9C3D-CBBE-4D29-9DAC-98B3CAF39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7016629-22ED-494E-9205-594895DA9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BFF3CC1E-0ED4-4599-9B4E-F057769B96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065A4B3A-F9A7-4FA6-A7F3-EA08E0BA15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83B6A14-A56D-4B95-8395-89CF53A09B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49F0868B-B193-43B6-BB1E-1FF72993EA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pSp>
        <p:nvGrpSpPr>
          <p:cNvPr id="46" name="Graphic 4">
            <a:extLst>
              <a:ext uri="{FF2B5EF4-FFF2-40B4-BE49-F238E27FC236}">
                <a16:creationId xmlns:a16="http://schemas.microsoft.com/office/drawing/2014/main" id="{BB32367D-C4F2-49D5-A586-298C7CA821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516806" y="2335801"/>
            <a:ext cx="637026" cy="849366"/>
            <a:chOff x="5829300" y="3162300"/>
            <a:chExt cx="532256" cy="532257"/>
          </a:xfrm>
          <a:solidFill>
            <a:schemeClr val="bg1"/>
          </a:solidFill>
        </p:grpSpPr>
        <p:sp>
          <p:nvSpPr>
            <p:cNvPr id="47" name="Freeform: Shape 46">
              <a:extLst>
                <a:ext uri="{FF2B5EF4-FFF2-40B4-BE49-F238E27FC236}">
                  <a16:creationId xmlns:a16="http://schemas.microsoft.com/office/drawing/2014/main" id="{E1FF7EE7-ACA2-4BFF-BA75-7FAE93FBB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8647462E-B5E8-4F02-A1E4-BD0380A224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412CE109-6153-414A-B2D6-C4F9C6FA2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DAF530F5-D68D-4BC8-8984-F1A8B5DEB6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2EB69747-F9DD-4B80-B488-D5565D0BC6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73AFB787-B8A4-4269-9DA9-FF4A660303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6E682D93-25A6-4D91-9A81-3F247BBEE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9D5F48B5-53B4-4DA8-B929-6AFF506589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8CA195A3-2A74-4D13-A1B8-24765E26B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B98F1918-C39D-4713-AB21-685A944355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33592273-DEE6-42E1-B824-11D5443323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12D6F82B-B619-4D8B-85AE-0E57103BA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6246C574-90D4-412B-9444-203F7C83CD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
        <p:nvSpPr>
          <p:cNvPr id="3" name="Content Placeholder 2"/>
          <p:cNvSpPr>
            <a:spLocks noGrp="1"/>
          </p:cNvSpPr>
          <p:nvPr>
            <p:ph idx="1"/>
          </p:nvPr>
        </p:nvSpPr>
        <p:spPr>
          <a:xfrm>
            <a:off x="4857952" y="685805"/>
            <a:ext cx="3731078" cy="5534019"/>
          </a:xfrm>
        </p:spPr>
        <p:txBody>
          <a:bodyPr>
            <a:normAutofit/>
          </a:bodyPr>
          <a:lstStyle/>
          <a:p>
            <a:pPr>
              <a:lnSpc>
                <a:spcPct val="90000"/>
              </a:lnSpc>
            </a:pPr>
            <a:r>
              <a:rPr lang="en-US" sz="2000" b="1">
                <a:solidFill>
                  <a:schemeClr val="bg1"/>
                </a:solidFill>
                <a:latin typeface="Times New Roman" panose="02020603050405020304" pitchFamily="18" charset="0"/>
                <a:cs typeface="Times New Roman" panose="02020603050405020304" pitchFamily="18" charset="0"/>
              </a:rPr>
              <a:t>Current Limitations</a:t>
            </a:r>
            <a:r>
              <a:rPr lang="en-US" sz="2000">
                <a:solidFill>
                  <a:schemeClr val="bg1"/>
                </a:solidFill>
                <a:latin typeface="Times New Roman" panose="02020603050405020304" pitchFamily="18" charset="0"/>
                <a:cs typeface="Times New Roman" panose="02020603050405020304" pitchFamily="18" charset="0"/>
              </a:rPr>
              <a:t>: Existing metrics rely on simple summations, ignoring the dynamic and contextual flow of basketball.</a:t>
            </a:r>
          </a:p>
          <a:p>
            <a:pPr>
              <a:lnSpc>
                <a:spcPct val="90000"/>
              </a:lnSpc>
            </a:pPr>
            <a:r>
              <a:rPr lang="en-US" sz="2000" b="1">
                <a:solidFill>
                  <a:schemeClr val="bg1"/>
                </a:solidFill>
                <a:latin typeface="Times New Roman" panose="02020603050405020304" pitchFamily="18" charset="0"/>
                <a:cs typeface="Times New Roman" panose="02020603050405020304" pitchFamily="18" charset="0"/>
              </a:rPr>
              <a:t>Momentum Issue</a:t>
            </a:r>
            <a:r>
              <a:rPr lang="en-US" sz="2000">
                <a:solidFill>
                  <a:schemeClr val="bg1"/>
                </a:solidFill>
                <a:latin typeface="Times New Roman" panose="02020603050405020304" pitchFamily="18" charset="0"/>
                <a:cs typeface="Times New Roman" panose="02020603050405020304" pitchFamily="18" charset="0"/>
              </a:rPr>
              <a:t>: Widely discussed in practice but poorly defined and quantified, limiting its strategic use.</a:t>
            </a:r>
          </a:p>
          <a:p>
            <a:pPr>
              <a:lnSpc>
                <a:spcPct val="90000"/>
              </a:lnSpc>
            </a:pPr>
            <a:r>
              <a:rPr lang="en-US" sz="2000" b="1">
                <a:solidFill>
                  <a:schemeClr val="bg1"/>
                </a:solidFill>
                <a:latin typeface="Times New Roman" panose="02020603050405020304" pitchFamily="18" charset="0"/>
                <a:cs typeface="Times New Roman" panose="02020603050405020304" pitchFamily="18" charset="0"/>
              </a:rPr>
              <a:t>Research Problem</a:t>
            </a:r>
            <a:r>
              <a:rPr lang="en-US" sz="2000">
                <a:solidFill>
                  <a:schemeClr val="bg1"/>
                </a:solidFill>
                <a:latin typeface="Times New Roman" panose="02020603050405020304" pitchFamily="18" charset="0"/>
                <a:cs typeface="Times New Roman" panose="02020603050405020304" pitchFamily="18" charset="0"/>
              </a:rPr>
              <a:t>: How to model player impact and game momentum using event-timestamped logs (without spatiotemporal tracking) to capture context, timing, and in-game action flow.</a:t>
            </a:r>
          </a:p>
        </p:txBody>
      </p:sp>
      <p:sp>
        <p:nvSpPr>
          <p:cNvPr id="6" name="Slide Number Placeholder 5">
            <a:extLst>
              <a:ext uri="{FF2B5EF4-FFF2-40B4-BE49-F238E27FC236}">
                <a16:creationId xmlns:a16="http://schemas.microsoft.com/office/drawing/2014/main" id="{C2E72212-ACCA-AB27-3957-51D62404FF33}"/>
              </a:ext>
            </a:extLst>
          </p:cNvPr>
          <p:cNvSpPr>
            <a:spLocks noGrp="1"/>
          </p:cNvSpPr>
          <p:nvPr>
            <p:ph type="sldNum" sz="quarter" idx="12"/>
          </p:nvPr>
        </p:nvSpPr>
        <p:spPr/>
        <p:txBody>
          <a:bodyPr/>
          <a:lstStyle/>
          <a:p>
            <a:fld id="{C1FF6DA9-008F-8B48-92A6-B652298478BF}" type="slidenum">
              <a:rPr lang="en-US" sz="2000" smtClean="0">
                <a:solidFill>
                  <a:schemeClr val="bg1"/>
                </a:solidFill>
                <a:latin typeface="Times New Roman" panose="02020603050405020304" pitchFamily="18" charset="0"/>
                <a:cs typeface="Times New Roman" panose="02020603050405020304" pitchFamily="18" charset="0"/>
              </a:rPr>
              <a:t>4</a:t>
            </a:fld>
            <a:endParaRPr lang="en-US"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p:cNvSpPr>
            <a:spLocks noGrp="1"/>
          </p:cNvSpPr>
          <p:nvPr>
            <p:ph type="title"/>
          </p:nvPr>
        </p:nvSpPr>
        <p:spPr>
          <a:xfrm>
            <a:off x="628650" y="182335"/>
            <a:ext cx="3530753" cy="1225650"/>
          </a:xfrm>
        </p:spPr>
        <p:txBody>
          <a:bodyPr anchor="b">
            <a:normAutofit/>
          </a:bodyPr>
          <a:lstStyle/>
          <a:p>
            <a:r>
              <a:rPr lang="en-US" sz="4000" dirty="0">
                <a:solidFill>
                  <a:schemeClr val="bg1"/>
                </a:solidFill>
                <a:latin typeface="Times New Roman" panose="02020603050405020304" pitchFamily="18" charset="0"/>
                <a:cs typeface="Times New Roman" panose="02020603050405020304" pitchFamily="18" charset="0"/>
              </a:rPr>
              <a:t>Aim</a:t>
            </a:r>
          </a:p>
        </p:txBody>
      </p:sp>
      <p:cxnSp>
        <p:nvCxnSpPr>
          <p:cNvPr id="37" name="Straight Connector 36">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3904" y="1749756"/>
            <a:ext cx="353872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673326" y="1909192"/>
            <a:ext cx="4721634" cy="3647710"/>
          </a:xfrm>
        </p:spPr>
        <p:txBody>
          <a:bodyPr>
            <a:normAutofit/>
          </a:bodyPr>
          <a:lstStyle/>
          <a:p>
            <a:r>
              <a:rPr lang="en-US" sz="2400" dirty="0">
                <a:solidFill>
                  <a:schemeClr val="bg1"/>
                </a:solidFill>
                <a:latin typeface="Times New Roman" panose="02020603050405020304" pitchFamily="18" charset="0"/>
                <a:cs typeface="Times New Roman" panose="02020603050405020304" pitchFamily="18" charset="0"/>
              </a:rPr>
              <a:t>To enhance the usefulness of performance data for strategic decision-making by developing an </a:t>
            </a:r>
            <a:r>
              <a:rPr lang="en-US" sz="2400" b="1" dirty="0">
                <a:solidFill>
                  <a:schemeClr val="bg1"/>
                </a:solidFill>
                <a:latin typeface="Times New Roman" panose="02020603050405020304" pitchFamily="18" charset="0"/>
                <a:cs typeface="Times New Roman" panose="02020603050405020304" pitchFamily="18" charset="0"/>
              </a:rPr>
              <a:t>interpretable, temporal, context-aware analytics framework</a:t>
            </a:r>
            <a:r>
              <a:rPr lang="en-US" sz="2400" dirty="0">
                <a:solidFill>
                  <a:schemeClr val="bg1"/>
                </a:solidFill>
                <a:latin typeface="Times New Roman" panose="02020603050405020304" pitchFamily="18" charset="0"/>
                <a:cs typeface="Times New Roman" panose="02020603050405020304" pitchFamily="18" charset="0"/>
              </a:rPr>
              <a:t> that models </a:t>
            </a:r>
            <a:r>
              <a:rPr lang="en-US" sz="2400" b="1" dirty="0">
                <a:solidFill>
                  <a:schemeClr val="bg1"/>
                </a:solidFill>
                <a:latin typeface="Times New Roman" panose="02020603050405020304" pitchFamily="18" charset="0"/>
                <a:cs typeface="Times New Roman" panose="02020603050405020304" pitchFamily="18" charset="0"/>
              </a:rPr>
              <a:t>player impact</a:t>
            </a:r>
            <a:r>
              <a:rPr lang="en-US" sz="2400" dirty="0">
                <a:solidFill>
                  <a:schemeClr val="bg1"/>
                </a:solidFill>
                <a:latin typeface="Times New Roman" panose="02020603050405020304" pitchFamily="18" charset="0"/>
                <a:cs typeface="Times New Roman" panose="02020603050405020304" pitchFamily="18" charset="0"/>
              </a:rPr>
              <a:t> and </a:t>
            </a:r>
            <a:r>
              <a:rPr lang="en-US" sz="2400" b="1" dirty="0" err="1">
                <a:solidFill>
                  <a:schemeClr val="bg1"/>
                </a:solidFill>
                <a:latin typeface="Times New Roman" panose="02020603050405020304" pitchFamily="18" charset="0"/>
                <a:cs typeface="Times New Roman" panose="02020603050405020304" pitchFamily="18" charset="0"/>
              </a:rPr>
              <a:t>visualises</a:t>
            </a:r>
            <a:r>
              <a:rPr lang="en-US" sz="2400" b="1" dirty="0">
                <a:solidFill>
                  <a:schemeClr val="bg1"/>
                </a:solidFill>
                <a:latin typeface="Times New Roman" panose="02020603050405020304" pitchFamily="18" charset="0"/>
                <a:cs typeface="Times New Roman" panose="02020603050405020304" pitchFamily="18" charset="0"/>
              </a:rPr>
              <a:t> game momentum</a:t>
            </a:r>
            <a:r>
              <a:rPr lang="en-US" sz="2400" dirty="0">
                <a:solidFill>
                  <a:schemeClr val="bg1"/>
                </a:solidFill>
                <a:latin typeface="Times New Roman" panose="02020603050405020304" pitchFamily="18" charset="0"/>
                <a:cs typeface="Times New Roman" panose="02020603050405020304" pitchFamily="18" charset="0"/>
              </a:rPr>
              <a:t> in professional basketball.</a:t>
            </a:r>
          </a:p>
        </p:txBody>
      </p:sp>
      <p:cxnSp>
        <p:nvCxnSpPr>
          <p:cNvPr id="39" name="Straight Connector 38">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5520" y="5707672"/>
            <a:ext cx="353549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6" name="Picture 5" descr="A person dunking a basketball&#10;&#10;AI-generated content may be incorrect.">
            <a:extLst>
              <a:ext uri="{FF2B5EF4-FFF2-40B4-BE49-F238E27FC236}">
                <a16:creationId xmlns:a16="http://schemas.microsoft.com/office/drawing/2014/main" id="{6BCA8F32-05A3-8216-C956-ED490DF4DC3E}"/>
              </a:ext>
            </a:extLst>
          </p:cNvPr>
          <p:cNvPicPr>
            <a:picLocks noChangeAspect="1"/>
          </p:cNvPicPr>
          <p:nvPr/>
        </p:nvPicPr>
        <p:blipFill>
          <a:blip r:embed="rId2"/>
          <a:srcRect r="-1" b="128"/>
          <a:stretch>
            <a:fillRect/>
          </a:stretch>
        </p:blipFill>
        <p:spPr>
          <a:xfrm>
            <a:off x="5516623" y="1248312"/>
            <a:ext cx="2817351" cy="3756457"/>
          </a:xfrm>
          <a:prstGeom prst="rect">
            <a:avLst/>
          </a:prstGeom>
          <a:ln>
            <a:noFill/>
          </a:ln>
          <a:effectLst>
            <a:outerShdw blurRad="190500" algn="tl" rotWithShape="0">
              <a:srgbClr val="000000">
                <a:alpha val="70000"/>
              </a:srgbClr>
            </a:outerShdw>
          </a:effectLst>
        </p:spPr>
      </p:pic>
      <p:sp>
        <p:nvSpPr>
          <p:cNvPr id="7" name="Slide Number Placeholder 6">
            <a:extLst>
              <a:ext uri="{FF2B5EF4-FFF2-40B4-BE49-F238E27FC236}">
                <a16:creationId xmlns:a16="http://schemas.microsoft.com/office/drawing/2014/main" id="{3547B644-6479-0EB5-03E7-88D9EF67DE3E}"/>
              </a:ext>
            </a:extLst>
          </p:cNvPr>
          <p:cNvSpPr>
            <a:spLocks noGrp="1"/>
          </p:cNvSpPr>
          <p:nvPr>
            <p:ph type="sldNum" sz="quarter" idx="12"/>
          </p:nvPr>
        </p:nvSpPr>
        <p:spPr/>
        <p:txBody>
          <a:bodyPr/>
          <a:lstStyle/>
          <a:p>
            <a:fld id="{C1FF6DA9-008F-8B48-92A6-B652298478BF}" type="slidenum">
              <a:rPr lang="en-US" sz="2000" smtClean="0">
                <a:solidFill>
                  <a:schemeClr val="bg1"/>
                </a:solidFill>
                <a:latin typeface="Times New Roman" panose="02020603050405020304" pitchFamily="18" charset="0"/>
                <a:cs typeface="Times New Roman" panose="02020603050405020304" pitchFamily="18" charset="0"/>
              </a:rPr>
              <a:t>5</a:t>
            </a:fld>
            <a:endParaRPr lang="en-US"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DF97D7-35FC-F7A9-300D-99D8E893AB7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28A232-B922-758C-7821-2B002C042E40}"/>
              </a:ext>
            </a:extLst>
          </p:cNvPr>
          <p:cNvSpPr>
            <a:spLocks noGrp="1"/>
          </p:cNvSpPr>
          <p:nvPr>
            <p:ph type="title"/>
          </p:nvPr>
        </p:nvSpPr>
        <p:spPr>
          <a:xfrm>
            <a:off x="429369" y="50362"/>
            <a:ext cx="8263890" cy="1434415"/>
          </a:xfrm>
        </p:spPr>
        <p:txBody>
          <a:bodyPr anchor="b">
            <a:normAutofit/>
          </a:bodyPr>
          <a:lstStyle/>
          <a:p>
            <a:r>
              <a:rPr lang="en-US" sz="4700" dirty="0">
                <a:latin typeface="Times New Roman" panose="02020603050405020304" pitchFamily="18" charset="0"/>
                <a:cs typeface="Times New Roman" panose="02020603050405020304" pitchFamily="18" charset="0"/>
              </a:rPr>
              <a:t>Objectives</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369" y="1681544"/>
            <a:ext cx="8229600" cy="18288"/>
          </a:xfrm>
          <a:custGeom>
            <a:avLst/>
            <a:gdLst>
              <a:gd name="connsiteX0" fmla="*/ 0 w 8229600"/>
              <a:gd name="connsiteY0" fmla="*/ 0 h 18288"/>
              <a:gd name="connsiteX1" fmla="*/ 521208 w 8229600"/>
              <a:gd name="connsiteY1" fmla="*/ 0 h 18288"/>
              <a:gd name="connsiteX2" fmla="*/ 1371600 w 8229600"/>
              <a:gd name="connsiteY2" fmla="*/ 0 h 18288"/>
              <a:gd name="connsiteX3" fmla="*/ 2221992 w 8229600"/>
              <a:gd name="connsiteY3" fmla="*/ 0 h 18288"/>
              <a:gd name="connsiteX4" fmla="*/ 3072384 w 8229600"/>
              <a:gd name="connsiteY4" fmla="*/ 0 h 18288"/>
              <a:gd name="connsiteX5" fmla="*/ 3511296 w 8229600"/>
              <a:gd name="connsiteY5" fmla="*/ 0 h 18288"/>
              <a:gd name="connsiteX6" fmla="*/ 4114800 w 8229600"/>
              <a:gd name="connsiteY6" fmla="*/ 0 h 18288"/>
              <a:gd name="connsiteX7" fmla="*/ 4553712 w 8229600"/>
              <a:gd name="connsiteY7" fmla="*/ 0 h 18288"/>
              <a:gd name="connsiteX8" fmla="*/ 5239512 w 8229600"/>
              <a:gd name="connsiteY8" fmla="*/ 0 h 18288"/>
              <a:gd name="connsiteX9" fmla="*/ 5843016 w 8229600"/>
              <a:gd name="connsiteY9" fmla="*/ 0 h 18288"/>
              <a:gd name="connsiteX10" fmla="*/ 6611112 w 8229600"/>
              <a:gd name="connsiteY10" fmla="*/ 0 h 18288"/>
              <a:gd name="connsiteX11" fmla="*/ 7461504 w 8229600"/>
              <a:gd name="connsiteY11" fmla="*/ 0 h 18288"/>
              <a:gd name="connsiteX12" fmla="*/ 8229600 w 8229600"/>
              <a:gd name="connsiteY12" fmla="*/ 0 h 18288"/>
              <a:gd name="connsiteX13" fmla="*/ 8229600 w 8229600"/>
              <a:gd name="connsiteY13" fmla="*/ 18288 h 18288"/>
              <a:gd name="connsiteX14" fmla="*/ 7461504 w 8229600"/>
              <a:gd name="connsiteY14" fmla="*/ 18288 h 18288"/>
              <a:gd name="connsiteX15" fmla="*/ 6940296 w 8229600"/>
              <a:gd name="connsiteY15" fmla="*/ 18288 h 18288"/>
              <a:gd name="connsiteX16" fmla="*/ 6419088 w 8229600"/>
              <a:gd name="connsiteY16" fmla="*/ 18288 h 18288"/>
              <a:gd name="connsiteX17" fmla="*/ 5650992 w 8229600"/>
              <a:gd name="connsiteY17" fmla="*/ 18288 h 18288"/>
              <a:gd name="connsiteX18" fmla="*/ 5129784 w 8229600"/>
              <a:gd name="connsiteY18" fmla="*/ 18288 h 18288"/>
              <a:gd name="connsiteX19" fmla="*/ 4690872 w 8229600"/>
              <a:gd name="connsiteY19" fmla="*/ 18288 h 18288"/>
              <a:gd name="connsiteX20" fmla="*/ 4087368 w 8229600"/>
              <a:gd name="connsiteY20" fmla="*/ 18288 h 18288"/>
              <a:gd name="connsiteX21" fmla="*/ 3401568 w 8229600"/>
              <a:gd name="connsiteY21" fmla="*/ 18288 h 18288"/>
              <a:gd name="connsiteX22" fmla="*/ 2798064 w 8229600"/>
              <a:gd name="connsiteY22" fmla="*/ 18288 h 18288"/>
              <a:gd name="connsiteX23" fmla="*/ 2276856 w 8229600"/>
              <a:gd name="connsiteY23" fmla="*/ 18288 h 18288"/>
              <a:gd name="connsiteX24" fmla="*/ 1426464 w 8229600"/>
              <a:gd name="connsiteY24" fmla="*/ 18288 h 18288"/>
              <a:gd name="connsiteX25" fmla="*/ 740664 w 8229600"/>
              <a:gd name="connsiteY25" fmla="*/ 18288 h 18288"/>
              <a:gd name="connsiteX26" fmla="*/ 0 w 8229600"/>
              <a:gd name="connsiteY26" fmla="*/ 18288 h 18288"/>
              <a:gd name="connsiteX27" fmla="*/ 0 w 8229600"/>
              <a:gd name="connsiteY2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8288" fill="none" extrusionOk="0">
                <a:moveTo>
                  <a:pt x="0" y="0"/>
                </a:moveTo>
                <a:cubicBezTo>
                  <a:pt x="227594" y="-4267"/>
                  <a:pt x="329693" y="13251"/>
                  <a:pt x="521208" y="0"/>
                </a:cubicBezTo>
                <a:cubicBezTo>
                  <a:pt x="712723" y="-13251"/>
                  <a:pt x="1137373" y="-13618"/>
                  <a:pt x="1371600" y="0"/>
                </a:cubicBezTo>
                <a:cubicBezTo>
                  <a:pt x="1605827" y="13618"/>
                  <a:pt x="1975382" y="-27374"/>
                  <a:pt x="2221992" y="0"/>
                </a:cubicBezTo>
                <a:cubicBezTo>
                  <a:pt x="2468602" y="27374"/>
                  <a:pt x="2863316" y="-20517"/>
                  <a:pt x="3072384" y="0"/>
                </a:cubicBezTo>
                <a:cubicBezTo>
                  <a:pt x="3281452" y="20517"/>
                  <a:pt x="3331438" y="10793"/>
                  <a:pt x="3511296" y="0"/>
                </a:cubicBezTo>
                <a:cubicBezTo>
                  <a:pt x="3691154" y="-10793"/>
                  <a:pt x="3906405" y="-29737"/>
                  <a:pt x="4114800" y="0"/>
                </a:cubicBezTo>
                <a:cubicBezTo>
                  <a:pt x="4323195" y="29737"/>
                  <a:pt x="4428852" y="-2234"/>
                  <a:pt x="4553712" y="0"/>
                </a:cubicBezTo>
                <a:cubicBezTo>
                  <a:pt x="4678572" y="2234"/>
                  <a:pt x="5065629" y="29368"/>
                  <a:pt x="5239512" y="0"/>
                </a:cubicBezTo>
                <a:cubicBezTo>
                  <a:pt x="5413395" y="-29368"/>
                  <a:pt x="5703888" y="11839"/>
                  <a:pt x="5843016" y="0"/>
                </a:cubicBezTo>
                <a:cubicBezTo>
                  <a:pt x="5982144" y="-11839"/>
                  <a:pt x="6260765" y="24719"/>
                  <a:pt x="6611112" y="0"/>
                </a:cubicBezTo>
                <a:cubicBezTo>
                  <a:pt x="6961459" y="-24719"/>
                  <a:pt x="7228293" y="32959"/>
                  <a:pt x="7461504" y="0"/>
                </a:cubicBezTo>
                <a:cubicBezTo>
                  <a:pt x="7694715" y="-32959"/>
                  <a:pt x="7990029" y="-3422"/>
                  <a:pt x="8229600" y="0"/>
                </a:cubicBezTo>
                <a:cubicBezTo>
                  <a:pt x="8228940" y="5812"/>
                  <a:pt x="8229447" y="9773"/>
                  <a:pt x="8229600" y="18288"/>
                </a:cubicBezTo>
                <a:cubicBezTo>
                  <a:pt x="7940706" y="-9293"/>
                  <a:pt x="7792584" y="-16009"/>
                  <a:pt x="7461504" y="18288"/>
                </a:cubicBezTo>
                <a:cubicBezTo>
                  <a:pt x="7130424" y="52585"/>
                  <a:pt x="7080072" y="43845"/>
                  <a:pt x="6940296" y="18288"/>
                </a:cubicBezTo>
                <a:cubicBezTo>
                  <a:pt x="6800520" y="-7269"/>
                  <a:pt x="6672872" y="26671"/>
                  <a:pt x="6419088" y="18288"/>
                </a:cubicBezTo>
                <a:cubicBezTo>
                  <a:pt x="6165304" y="9905"/>
                  <a:pt x="5869721" y="4987"/>
                  <a:pt x="5650992" y="18288"/>
                </a:cubicBezTo>
                <a:cubicBezTo>
                  <a:pt x="5432263" y="31589"/>
                  <a:pt x="5308310" y="3023"/>
                  <a:pt x="5129784" y="18288"/>
                </a:cubicBezTo>
                <a:cubicBezTo>
                  <a:pt x="4951258" y="33553"/>
                  <a:pt x="4799696" y="15357"/>
                  <a:pt x="4690872" y="18288"/>
                </a:cubicBezTo>
                <a:cubicBezTo>
                  <a:pt x="4582048" y="21219"/>
                  <a:pt x="4311124" y="-7836"/>
                  <a:pt x="4087368" y="18288"/>
                </a:cubicBezTo>
                <a:cubicBezTo>
                  <a:pt x="3863612" y="44412"/>
                  <a:pt x="3730288" y="13374"/>
                  <a:pt x="3401568" y="18288"/>
                </a:cubicBezTo>
                <a:cubicBezTo>
                  <a:pt x="3072848" y="23202"/>
                  <a:pt x="3020684" y="32425"/>
                  <a:pt x="2798064" y="18288"/>
                </a:cubicBezTo>
                <a:cubicBezTo>
                  <a:pt x="2575444" y="4151"/>
                  <a:pt x="2440915" y="-7352"/>
                  <a:pt x="2276856" y="18288"/>
                </a:cubicBezTo>
                <a:cubicBezTo>
                  <a:pt x="2112797" y="43928"/>
                  <a:pt x="1726502" y="-9560"/>
                  <a:pt x="1426464" y="18288"/>
                </a:cubicBezTo>
                <a:cubicBezTo>
                  <a:pt x="1126426" y="46136"/>
                  <a:pt x="992925" y="21016"/>
                  <a:pt x="740664" y="18288"/>
                </a:cubicBezTo>
                <a:cubicBezTo>
                  <a:pt x="488403" y="15560"/>
                  <a:pt x="195650" y="-16061"/>
                  <a:pt x="0" y="18288"/>
                </a:cubicBezTo>
                <a:cubicBezTo>
                  <a:pt x="348" y="9455"/>
                  <a:pt x="654" y="3983"/>
                  <a:pt x="0" y="0"/>
                </a:cubicBezTo>
                <a:close/>
              </a:path>
              <a:path w="8229600" h="18288" stroke="0" extrusionOk="0">
                <a:moveTo>
                  <a:pt x="0" y="0"/>
                </a:moveTo>
                <a:cubicBezTo>
                  <a:pt x="259263" y="-9445"/>
                  <a:pt x="404731" y="4427"/>
                  <a:pt x="521208" y="0"/>
                </a:cubicBezTo>
                <a:cubicBezTo>
                  <a:pt x="637685" y="-4427"/>
                  <a:pt x="839187" y="564"/>
                  <a:pt x="960120" y="0"/>
                </a:cubicBezTo>
                <a:cubicBezTo>
                  <a:pt x="1081053" y="-564"/>
                  <a:pt x="1313469" y="-16481"/>
                  <a:pt x="1481328" y="0"/>
                </a:cubicBezTo>
                <a:cubicBezTo>
                  <a:pt x="1649187" y="16481"/>
                  <a:pt x="1885247" y="26161"/>
                  <a:pt x="2167128" y="0"/>
                </a:cubicBezTo>
                <a:cubicBezTo>
                  <a:pt x="2449009" y="-26161"/>
                  <a:pt x="2761875" y="-22202"/>
                  <a:pt x="2935224" y="0"/>
                </a:cubicBezTo>
                <a:cubicBezTo>
                  <a:pt x="3108573" y="22202"/>
                  <a:pt x="3540687" y="-2863"/>
                  <a:pt x="3785616" y="0"/>
                </a:cubicBezTo>
                <a:cubicBezTo>
                  <a:pt x="4030545" y="2863"/>
                  <a:pt x="4280774" y="-12442"/>
                  <a:pt x="4636008" y="0"/>
                </a:cubicBezTo>
                <a:cubicBezTo>
                  <a:pt x="4991242" y="12442"/>
                  <a:pt x="5025483" y="16914"/>
                  <a:pt x="5239512" y="0"/>
                </a:cubicBezTo>
                <a:cubicBezTo>
                  <a:pt x="5453541" y="-16914"/>
                  <a:pt x="5754008" y="16592"/>
                  <a:pt x="6007608" y="0"/>
                </a:cubicBezTo>
                <a:cubicBezTo>
                  <a:pt x="6261208" y="-16592"/>
                  <a:pt x="6407957" y="-11909"/>
                  <a:pt x="6693408" y="0"/>
                </a:cubicBezTo>
                <a:cubicBezTo>
                  <a:pt x="6978859" y="11909"/>
                  <a:pt x="7015437" y="-20890"/>
                  <a:pt x="7296912" y="0"/>
                </a:cubicBezTo>
                <a:cubicBezTo>
                  <a:pt x="7578387" y="20890"/>
                  <a:pt x="7859622" y="46406"/>
                  <a:pt x="8229600" y="0"/>
                </a:cubicBezTo>
                <a:cubicBezTo>
                  <a:pt x="8230508" y="6337"/>
                  <a:pt x="8228722" y="11778"/>
                  <a:pt x="8229600" y="18288"/>
                </a:cubicBezTo>
                <a:cubicBezTo>
                  <a:pt x="8075287" y="35054"/>
                  <a:pt x="7821366" y="21850"/>
                  <a:pt x="7626096" y="18288"/>
                </a:cubicBezTo>
                <a:cubicBezTo>
                  <a:pt x="7430826" y="14726"/>
                  <a:pt x="7320004" y="-9669"/>
                  <a:pt x="7022592" y="18288"/>
                </a:cubicBezTo>
                <a:cubicBezTo>
                  <a:pt x="6725180" y="46245"/>
                  <a:pt x="6348804" y="-14025"/>
                  <a:pt x="6172200" y="18288"/>
                </a:cubicBezTo>
                <a:cubicBezTo>
                  <a:pt x="5995596" y="50601"/>
                  <a:pt x="5788102" y="22890"/>
                  <a:pt x="5650992" y="18288"/>
                </a:cubicBezTo>
                <a:cubicBezTo>
                  <a:pt x="5513882" y="13686"/>
                  <a:pt x="5198399" y="29121"/>
                  <a:pt x="4882896" y="18288"/>
                </a:cubicBezTo>
                <a:cubicBezTo>
                  <a:pt x="4567393" y="7455"/>
                  <a:pt x="4557008" y="26965"/>
                  <a:pt x="4443984" y="18288"/>
                </a:cubicBezTo>
                <a:cubicBezTo>
                  <a:pt x="4330960" y="9611"/>
                  <a:pt x="4061674" y="28891"/>
                  <a:pt x="3758184" y="18288"/>
                </a:cubicBezTo>
                <a:cubicBezTo>
                  <a:pt x="3454694" y="7685"/>
                  <a:pt x="3380392" y="19119"/>
                  <a:pt x="3236976" y="18288"/>
                </a:cubicBezTo>
                <a:cubicBezTo>
                  <a:pt x="3093560" y="17457"/>
                  <a:pt x="2632116" y="37607"/>
                  <a:pt x="2386584" y="18288"/>
                </a:cubicBezTo>
                <a:cubicBezTo>
                  <a:pt x="2141052" y="-1031"/>
                  <a:pt x="2110884" y="28777"/>
                  <a:pt x="1947672" y="18288"/>
                </a:cubicBezTo>
                <a:cubicBezTo>
                  <a:pt x="1784460" y="7799"/>
                  <a:pt x="1535467" y="461"/>
                  <a:pt x="1261872" y="18288"/>
                </a:cubicBezTo>
                <a:cubicBezTo>
                  <a:pt x="988277" y="36115"/>
                  <a:pt x="1021096" y="10375"/>
                  <a:pt x="822960" y="18288"/>
                </a:cubicBezTo>
                <a:cubicBezTo>
                  <a:pt x="624824" y="26201"/>
                  <a:pt x="298309" y="1283"/>
                  <a:pt x="0" y="18288"/>
                </a:cubicBezTo>
                <a:cubicBezTo>
                  <a:pt x="-633" y="12278"/>
                  <a:pt x="-757" y="5867"/>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79DCC10-9D49-65A3-5BAC-0F2C720C8C99}"/>
              </a:ext>
            </a:extLst>
          </p:cNvPr>
          <p:cNvSpPr>
            <a:spLocks noGrp="1"/>
          </p:cNvSpPr>
          <p:nvPr>
            <p:ph idx="1"/>
          </p:nvPr>
        </p:nvSpPr>
        <p:spPr>
          <a:xfrm>
            <a:off x="429368" y="2071316"/>
            <a:ext cx="5498991" cy="4119172"/>
          </a:xfrm>
        </p:spPr>
        <p:txBody>
          <a:bodyPr anchor="t">
            <a:noAutofit/>
          </a:bodyPr>
          <a:lstStyle/>
          <a:p>
            <a:pPr>
              <a:lnSpc>
                <a:spcPct val="90000"/>
              </a:lnSpc>
            </a:pPr>
            <a:r>
              <a:rPr lang="en-US" sz="2000" b="1" dirty="0">
                <a:latin typeface="Times New Roman" panose="02020603050405020304" pitchFamily="18" charset="0"/>
                <a:cs typeface="Times New Roman" panose="02020603050405020304" pitchFamily="18" charset="0"/>
              </a:rPr>
              <a:t>Player Impact Modelling</a:t>
            </a:r>
            <a:r>
              <a:rPr lang="en-US" sz="2000" dirty="0">
                <a:latin typeface="Times New Roman" panose="02020603050405020304" pitchFamily="18" charset="0"/>
                <a:cs typeface="Times New Roman" panose="02020603050405020304" pitchFamily="18" charset="0"/>
              </a:rPr>
              <a:t>: Estimate player impact using advanced temporal, context-aware models that go beyond traditional aggregate metrics by incorporating </a:t>
            </a:r>
            <a:r>
              <a:rPr lang="en-US" sz="2000" b="1" dirty="0">
                <a:latin typeface="Times New Roman" panose="02020603050405020304" pitchFamily="18" charset="0"/>
                <a:cs typeface="Times New Roman" panose="02020603050405020304" pitchFamily="18" charset="0"/>
              </a:rPr>
              <a:t>timing, sequence, and situational context</a:t>
            </a:r>
            <a:r>
              <a:rPr lang="en-US" sz="2000" dirty="0">
                <a:latin typeface="Times New Roman" panose="02020603050405020304" pitchFamily="18" charset="0"/>
                <a:cs typeface="Times New Roman" panose="02020603050405020304" pitchFamily="18" charset="0"/>
              </a:rPr>
              <a:t> of in-game actions.</a:t>
            </a:r>
          </a:p>
          <a:p>
            <a:pPr>
              <a:lnSpc>
                <a:spcPct val="90000"/>
              </a:lnSpc>
            </a:pPr>
            <a:r>
              <a:rPr lang="en-US" sz="2000" b="1" dirty="0">
                <a:latin typeface="Times New Roman" panose="02020603050405020304" pitchFamily="18" charset="0"/>
                <a:cs typeface="Times New Roman" panose="02020603050405020304" pitchFamily="18" charset="0"/>
              </a:rPr>
              <a:t>Momentum Detection &amp; </a:t>
            </a:r>
            <a:r>
              <a:rPr lang="en-US" sz="2000" b="1" dirty="0" err="1">
                <a:latin typeface="Times New Roman" panose="02020603050405020304" pitchFamily="18" charset="0"/>
                <a:cs typeface="Times New Roman" panose="02020603050405020304" pitchFamily="18" charset="0"/>
              </a:rPr>
              <a:t>Visualisation</a:t>
            </a:r>
            <a:r>
              <a:rPr lang="en-US" sz="2000" dirty="0">
                <a:latin typeface="Times New Roman" panose="02020603050405020304" pitchFamily="18" charset="0"/>
                <a:cs typeface="Times New Roman" panose="02020603050405020304" pitchFamily="18" charset="0"/>
              </a:rPr>
              <a:t>: Detect and quantify momentum shifts using </a:t>
            </a:r>
            <a:r>
              <a:rPr lang="en-US" sz="2000" b="1" dirty="0">
                <a:latin typeface="Times New Roman" panose="02020603050405020304" pitchFamily="18" charset="0"/>
                <a:cs typeface="Times New Roman" panose="02020603050405020304" pitchFamily="18" charset="0"/>
              </a:rPr>
              <a:t>change-point detection</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clustering techniques</a:t>
            </a:r>
            <a:r>
              <a:rPr lang="en-US" sz="2000" dirty="0">
                <a:latin typeface="Times New Roman" panose="02020603050405020304" pitchFamily="18" charset="0"/>
                <a:cs typeface="Times New Roman" panose="02020603050405020304" pitchFamily="18" charset="0"/>
              </a:rPr>
              <a:t>, and present these phases interactively through a </a:t>
            </a:r>
            <a:r>
              <a:rPr lang="en-US" sz="2000" b="1" dirty="0">
                <a:latin typeface="Times New Roman" panose="02020603050405020304" pitchFamily="18" charset="0"/>
                <a:cs typeface="Times New Roman" panose="02020603050405020304" pitchFamily="18" charset="0"/>
              </a:rPr>
              <a:t>dashboard</a:t>
            </a:r>
            <a:r>
              <a:rPr lang="en-US" sz="2000" dirty="0">
                <a:latin typeface="Times New Roman" panose="02020603050405020304" pitchFamily="18" charset="0"/>
                <a:cs typeface="Times New Roman" panose="02020603050405020304" pitchFamily="18" charset="0"/>
              </a:rPr>
              <a:t>.</a:t>
            </a:r>
          </a:p>
          <a:p>
            <a:pPr>
              <a:lnSpc>
                <a:spcPct val="90000"/>
              </a:lnSpc>
            </a:pPr>
            <a:r>
              <a:rPr lang="en-US" sz="2000" b="1" dirty="0">
                <a:latin typeface="Times New Roman" panose="02020603050405020304" pitchFamily="18" charset="0"/>
                <a:cs typeface="Times New Roman" panose="02020603050405020304" pitchFamily="18" charset="0"/>
              </a:rPr>
              <a:t>Integrated Analysis</a:t>
            </a:r>
            <a:r>
              <a:rPr lang="en-US" sz="2000" dirty="0">
                <a:latin typeface="Times New Roman" panose="02020603050405020304" pitchFamily="18" charset="0"/>
                <a:cs typeface="Times New Roman" panose="02020603050405020304" pitchFamily="18" charset="0"/>
              </a:rPr>
              <a:t>: Examine the </a:t>
            </a:r>
            <a:r>
              <a:rPr lang="en-US" sz="2000" b="1" dirty="0">
                <a:latin typeface="Times New Roman" panose="02020603050405020304" pitchFamily="18" charset="0"/>
                <a:cs typeface="Times New Roman" panose="02020603050405020304" pitchFamily="18" charset="0"/>
              </a:rPr>
              <a:t>interplay between individual player impact and momentum dynamics</a:t>
            </a:r>
            <a:r>
              <a:rPr lang="en-US" sz="2000" dirty="0">
                <a:latin typeface="Times New Roman" panose="02020603050405020304" pitchFamily="18" charset="0"/>
                <a:cs typeface="Times New Roman" panose="02020603050405020304" pitchFamily="18" charset="0"/>
              </a:rPr>
              <a:t>, and assess their </a:t>
            </a:r>
            <a:r>
              <a:rPr lang="en-US" sz="2000" b="1" dirty="0">
                <a:latin typeface="Times New Roman" panose="02020603050405020304" pitchFamily="18" charset="0"/>
                <a:cs typeface="Times New Roman" panose="02020603050405020304" pitchFamily="18" charset="0"/>
              </a:rPr>
              <a:t>joint influence on team performance and game outcomes</a:t>
            </a:r>
            <a:r>
              <a:rPr lang="en-US" sz="2000" dirty="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p:txBody>
      </p:sp>
      <p:pic>
        <p:nvPicPr>
          <p:cNvPr id="5" name="Picture 4" descr="A ball in the air&#10;&#10;AI-generated content may be incorrect.">
            <a:extLst>
              <a:ext uri="{FF2B5EF4-FFF2-40B4-BE49-F238E27FC236}">
                <a16:creationId xmlns:a16="http://schemas.microsoft.com/office/drawing/2014/main" id="{DABB2FA3-1285-BA21-F796-2CA05E762A13}"/>
              </a:ext>
            </a:extLst>
          </p:cNvPr>
          <p:cNvPicPr>
            <a:picLocks noChangeAspect="1"/>
          </p:cNvPicPr>
          <p:nvPr/>
        </p:nvPicPr>
        <p:blipFill>
          <a:blip r:embed="rId2"/>
          <a:srcRect l="19494" r="32491" b="-1"/>
          <a:stretch>
            <a:fillRect/>
          </a:stretch>
        </p:blipFill>
        <p:spPr>
          <a:xfrm>
            <a:off x="5928359" y="2332653"/>
            <a:ext cx="2789220" cy="3865648"/>
          </a:xfrm>
          <a:prstGeom prst="rect">
            <a:avLst/>
          </a:prstGeom>
          <a:ln>
            <a:noFill/>
          </a:ln>
          <a:effectLst>
            <a:outerShdw blurRad="190500" algn="tl" rotWithShape="0">
              <a:srgbClr val="000000">
                <a:alpha val="70000"/>
              </a:srgbClr>
            </a:outerShdw>
          </a:effectLst>
        </p:spPr>
      </p:pic>
      <p:sp>
        <p:nvSpPr>
          <p:cNvPr id="6" name="Slide Number Placeholder 5">
            <a:extLst>
              <a:ext uri="{FF2B5EF4-FFF2-40B4-BE49-F238E27FC236}">
                <a16:creationId xmlns:a16="http://schemas.microsoft.com/office/drawing/2014/main" id="{6B0DC5CD-9B6F-74D5-ED1C-95E42C312F87}"/>
              </a:ext>
            </a:extLst>
          </p:cNvPr>
          <p:cNvSpPr>
            <a:spLocks noGrp="1"/>
          </p:cNvSpPr>
          <p:nvPr>
            <p:ph type="sldNum" sz="quarter" idx="12"/>
          </p:nvPr>
        </p:nvSpPr>
        <p:spPr>
          <a:xfrm>
            <a:off x="6583979" y="6356350"/>
            <a:ext cx="2133600" cy="365125"/>
          </a:xfrm>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6</a:t>
            </a:fld>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5196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uple of women playing basketball&#10;&#10;AI-generated content may be incorrect.">
            <a:extLst>
              <a:ext uri="{FF2B5EF4-FFF2-40B4-BE49-F238E27FC236}">
                <a16:creationId xmlns:a16="http://schemas.microsoft.com/office/drawing/2014/main" id="{84B4C895-38EF-FA3D-13A3-81316A123915}"/>
              </a:ext>
            </a:extLst>
          </p:cNvPr>
          <p:cNvPicPr>
            <a:picLocks noChangeAspect="1"/>
          </p:cNvPicPr>
          <p:nvPr/>
        </p:nvPicPr>
        <p:blipFill>
          <a:blip r:embed="rId2"/>
          <a:srcRect l="9001" t="4070" r="30288" b="-1"/>
          <a:stretch>
            <a:fillRect/>
          </a:stretch>
        </p:blipFill>
        <p:spPr>
          <a:xfrm>
            <a:off x="2641851" y="10"/>
            <a:ext cx="6502149" cy="6857990"/>
          </a:xfrm>
          <a:prstGeom prst="rect">
            <a:avLst/>
          </a:prstGeom>
        </p:spPr>
      </p:pic>
      <p:sp>
        <p:nvSpPr>
          <p:cNvPr id="12" name="Rectangle 11">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1745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269748" y="1030981"/>
            <a:ext cx="2578608" cy="1124712"/>
          </a:xfrm>
        </p:spPr>
        <p:txBody>
          <a:bodyPr anchor="b">
            <a:normAutofit/>
          </a:bodyPr>
          <a:lstStyle/>
          <a:p>
            <a:r>
              <a:rPr lang="en-US" sz="3000" dirty="0">
                <a:solidFill>
                  <a:schemeClr val="bg1"/>
                </a:solidFill>
                <a:latin typeface="Times New Roman" panose="02020603050405020304" pitchFamily="18" charset="0"/>
                <a:cs typeface="Times New Roman" panose="02020603050405020304" pitchFamily="18" charset="0"/>
              </a:rPr>
              <a:t>Limitations</a:t>
            </a:r>
          </a:p>
        </p:txBody>
      </p:sp>
      <p:sp>
        <p:nvSpPr>
          <p:cNvPr id="14" name="Rectangle 13">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7775" y="674370"/>
            <a:ext cx="73152" cy="411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183" y="2443480"/>
            <a:ext cx="2475738"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278320" y="2718054"/>
            <a:ext cx="5025200" cy="3541014"/>
          </a:xfrm>
        </p:spPr>
        <p:txBody>
          <a:bodyPr anchor="t">
            <a:noAutofit/>
          </a:bodyPr>
          <a:lstStyle/>
          <a:p>
            <a:pPr>
              <a:lnSpc>
                <a:spcPct val="90000"/>
              </a:lnSpc>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Does </a:t>
            </a:r>
            <a:r>
              <a:rPr lang="en-US" sz="2000" b="1" dirty="0">
                <a:solidFill>
                  <a:schemeClr val="bg1"/>
                </a:solidFill>
                <a:latin typeface="Times New Roman" panose="02020603050405020304" pitchFamily="18" charset="0"/>
                <a:cs typeface="Times New Roman" panose="02020603050405020304" pitchFamily="18" charset="0"/>
              </a:rPr>
              <a:t>not</a:t>
            </a:r>
            <a:r>
              <a:rPr lang="en-US" sz="2000" dirty="0">
                <a:solidFill>
                  <a:schemeClr val="bg1"/>
                </a:solidFill>
                <a:latin typeface="Times New Roman" panose="02020603050405020304" pitchFamily="18" charset="0"/>
                <a:cs typeface="Times New Roman" panose="02020603050405020304" pitchFamily="18" charset="0"/>
              </a:rPr>
              <a:t> include </a:t>
            </a:r>
            <a:r>
              <a:rPr lang="en-US" sz="2000" b="1" dirty="0">
                <a:solidFill>
                  <a:schemeClr val="bg1"/>
                </a:solidFill>
                <a:latin typeface="Times New Roman" panose="02020603050405020304" pitchFamily="18" charset="0"/>
                <a:cs typeface="Times New Roman" panose="02020603050405020304" pitchFamily="18" charset="0"/>
              </a:rPr>
              <a:t>spatiotemporal tracking data</a:t>
            </a:r>
            <a:r>
              <a:rPr lang="en-US" sz="2000" dirty="0">
                <a:solidFill>
                  <a:schemeClr val="bg1"/>
                </a:solidFill>
                <a:latin typeface="Times New Roman" panose="02020603050405020304" pitchFamily="18" charset="0"/>
                <a:cs typeface="Times New Roman" panose="02020603050405020304" pitchFamily="18" charset="0"/>
              </a:rPr>
              <a:t> (e.g., player positioning, body movement, biomechanics).</a:t>
            </a:r>
          </a:p>
          <a:p>
            <a:pPr>
              <a:lnSpc>
                <a:spcPct val="90000"/>
              </a:lnSpc>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Psychological and momentum-related inferences are made </a:t>
            </a:r>
            <a:r>
              <a:rPr lang="en-US" sz="2000" b="1" dirty="0">
                <a:solidFill>
                  <a:schemeClr val="bg1"/>
                </a:solidFill>
                <a:latin typeface="Times New Roman" panose="02020603050405020304" pitchFamily="18" charset="0"/>
                <a:cs typeface="Times New Roman" panose="02020603050405020304" pitchFamily="18" charset="0"/>
              </a:rPr>
              <a:t>indirectly</a:t>
            </a:r>
            <a:r>
              <a:rPr lang="en-US" sz="2000" dirty="0">
                <a:solidFill>
                  <a:schemeClr val="bg1"/>
                </a:solidFill>
                <a:latin typeface="Times New Roman" panose="02020603050405020304" pitchFamily="18" charset="0"/>
                <a:cs typeface="Times New Roman" panose="02020603050405020304" pitchFamily="18" charset="0"/>
              </a:rPr>
              <a:t>, without direct observation of player states.</a:t>
            </a:r>
          </a:p>
          <a:p>
            <a:pPr>
              <a:lnSpc>
                <a:spcPct val="90000"/>
              </a:lnSpc>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Results may have </a:t>
            </a:r>
            <a:r>
              <a:rPr lang="en-US" sz="2000" b="1" dirty="0">
                <a:solidFill>
                  <a:schemeClr val="bg1"/>
                </a:solidFill>
                <a:latin typeface="Times New Roman" panose="02020603050405020304" pitchFamily="18" charset="0"/>
                <a:cs typeface="Times New Roman" panose="02020603050405020304" pitchFamily="18" charset="0"/>
              </a:rPr>
              <a:t>limited generalizability</a:t>
            </a:r>
            <a:r>
              <a:rPr lang="en-US" sz="2000" dirty="0">
                <a:solidFill>
                  <a:schemeClr val="bg1"/>
                </a:solidFill>
                <a:latin typeface="Times New Roman" panose="02020603050405020304" pitchFamily="18" charset="0"/>
                <a:cs typeface="Times New Roman" panose="02020603050405020304" pitchFamily="18" charset="0"/>
              </a:rPr>
              <a:t> to:</a:t>
            </a:r>
          </a:p>
          <a:p>
            <a:pPr marL="742950" lvl="1" indent="-285750">
              <a:lnSpc>
                <a:spcPct val="90000"/>
              </a:lnSpc>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Other sports or leagues with less detailed event-logging systems.</a:t>
            </a:r>
          </a:p>
          <a:p>
            <a:pPr marL="742950" lvl="1" indent="-285750">
              <a:lnSpc>
                <a:spcPct val="90000"/>
              </a:lnSpc>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Contexts with different rules, game dynamics, or data availability.</a:t>
            </a:r>
          </a:p>
        </p:txBody>
      </p:sp>
      <p:sp>
        <p:nvSpPr>
          <p:cNvPr id="6" name="Slide Number Placeholder 5">
            <a:extLst>
              <a:ext uri="{FF2B5EF4-FFF2-40B4-BE49-F238E27FC236}">
                <a16:creationId xmlns:a16="http://schemas.microsoft.com/office/drawing/2014/main" id="{31869236-2ACB-AD99-FBD3-6A5DF0EEF351}"/>
              </a:ext>
            </a:extLst>
          </p:cNvPr>
          <p:cNvSpPr>
            <a:spLocks noGrp="1"/>
          </p:cNvSpPr>
          <p:nvPr>
            <p:ph type="sldNum" sz="quarter" idx="12"/>
          </p:nvPr>
        </p:nvSpPr>
        <p:spPr/>
        <p:txBody>
          <a:bodyPr/>
          <a:lstStyle/>
          <a:p>
            <a:fld id="{C1FF6DA9-008F-8B48-92A6-B652298478BF}" type="slidenum">
              <a:rPr lang="en-US" sz="2000" smtClean="0">
                <a:solidFill>
                  <a:schemeClr val="bg1"/>
                </a:solidFill>
                <a:latin typeface="Times New Roman" panose="02020603050405020304" pitchFamily="18" charset="0"/>
                <a:cs typeface="Times New Roman" panose="02020603050405020304" pitchFamily="18" charset="0"/>
              </a:rPr>
              <a:t>7</a:t>
            </a:fld>
            <a:endParaRPr lang="en-US"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496" y="307447"/>
            <a:ext cx="8020413" cy="1109932"/>
          </a:xfrm>
        </p:spPr>
        <p:txBody>
          <a:bodyPr>
            <a:normAutofit/>
          </a:bodyPr>
          <a:lstStyle/>
          <a:p>
            <a:r>
              <a:rPr lang="en-US" sz="3500" dirty="0">
                <a:latin typeface="Times New Roman" panose="02020603050405020304" pitchFamily="18" charset="0"/>
                <a:cs typeface="Times New Roman" panose="02020603050405020304" pitchFamily="18" charset="0"/>
              </a:rPr>
              <a:t>Methodology</a:t>
            </a:r>
          </a:p>
        </p:txBody>
      </p:sp>
      <p:pic>
        <p:nvPicPr>
          <p:cNvPr id="5" name="Picture 4">
            <a:extLst>
              <a:ext uri="{FF2B5EF4-FFF2-40B4-BE49-F238E27FC236}">
                <a16:creationId xmlns:a16="http://schemas.microsoft.com/office/drawing/2014/main" id="{DFD16A14-57C8-76C6-595C-E31BC6726520}"/>
              </a:ext>
            </a:extLst>
          </p:cNvPr>
          <p:cNvPicPr>
            <a:picLocks noChangeAspect="1"/>
          </p:cNvPicPr>
          <p:nvPr/>
        </p:nvPicPr>
        <p:blipFill>
          <a:blip r:embed="rId2"/>
          <a:stretch>
            <a:fillRect/>
          </a:stretch>
        </p:blipFill>
        <p:spPr>
          <a:xfrm>
            <a:off x="552091" y="2798025"/>
            <a:ext cx="3199028" cy="2127354"/>
          </a:xfrm>
          <a:prstGeom prst="rect">
            <a:avLst/>
          </a:prstGeom>
        </p:spPr>
      </p:pic>
      <p:sp>
        <p:nvSpPr>
          <p:cNvPr id="3" name="Content Placeholder 2"/>
          <p:cNvSpPr>
            <a:spLocks noGrp="1"/>
          </p:cNvSpPr>
          <p:nvPr>
            <p:ph idx="1"/>
          </p:nvPr>
        </p:nvSpPr>
        <p:spPr>
          <a:xfrm>
            <a:off x="3751118" y="2357888"/>
            <a:ext cx="4996641" cy="3902635"/>
          </a:xfrm>
        </p:spPr>
        <p:txBody>
          <a:bodyPr anchor="ctr">
            <a:noAutofit/>
          </a:bodyPr>
          <a:lstStyle/>
          <a:p>
            <a:pPr marL="0" indent="0">
              <a:lnSpc>
                <a:spcPct val="90000"/>
              </a:lnSpc>
              <a:buNone/>
            </a:pPr>
            <a:r>
              <a:rPr lang="en-US" sz="2000" b="1" dirty="0">
                <a:latin typeface="Times New Roman" panose="02020603050405020304" pitchFamily="18" charset="0"/>
                <a:cs typeface="Times New Roman" panose="02020603050405020304" pitchFamily="18" charset="0"/>
              </a:rPr>
              <a:t>Data Acquisition and Preprocessing</a:t>
            </a:r>
          </a:p>
          <a:p>
            <a:pPr>
              <a:lnSpc>
                <a:spcPct val="90000"/>
              </a:lnSpc>
            </a:pPr>
            <a:r>
              <a:rPr lang="en-US" sz="2000" dirty="0">
                <a:latin typeface="Times New Roman" panose="02020603050405020304" pitchFamily="18" charset="0"/>
                <a:cs typeface="Times New Roman" panose="02020603050405020304" pitchFamily="18" charset="0"/>
              </a:rPr>
              <a:t>Input Data: NBA 2020–21 play-by-play logs. Each record contains timestamp, quarter, player, event type, and play description.</a:t>
            </a:r>
          </a:p>
          <a:p>
            <a:pPr>
              <a:lnSpc>
                <a:spcPct val="90000"/>
              </a:lnSpc>
            </a:pPr>
            <a:r>
              <a:rPr lang="en-US" sz="2000" dirty="0">
                <a:latin typeface="Times New Roman" panose="02020603050405020304" pitchFamily="18" charset="0"/>
                <a:cs typeface="Times New Roman" panose="02020603050405020304" pitchFamily="18" charset="0"/>
              </a:rPr>
              <a:t>Preprocessing Steps:</a:t>
            </a:r>
          </a:p>
          <a:p>
            <a:pPr marL="857250" lvl="1" indent="-457200">
              <a:lnSpc>
                <a:spcPct val="9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Handle missing/null values.</a:t>
            </a:r>
          </a:p>
          <a:p>
            <a:pPr marL="857250" lvl="1" indent="-457200">
              <a:lnSpc>
                <a:spcPct val="9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Convert quarter + seconds-left into a unified time axis (</a:t>
            </a:r>
            <a:r>
              <a:rPr lang="en-US" sz="2000" dirty="0" err="1">
                <a:latin typeface="Times New Roman" panose="02020603050405020304" pitchFamily="18" charset="0"/>
                <a:cs typeface="Times New Roman" panose="02020603050405020304" pitchFamily="18" charset="0"/>
              </a:rPr>
              <a:t>total_seconds_elapsed</a:t>
            </a:r>
            <a:r>
              <a:rPr lang="en-US" sz="2000" dirty="0">
                <a:latin typeface="Times New Roman" panose="02020603050405020304" pitchFamily="18" charset="0"/>
                <a:cs typeface="Times New Roman" panose="02020603050405020304" pitchFamily="18" charset="0"/>
              </a:rPr>
              <a:t>).</a:t>
            </a:r>
          </a:p>
          <a:p>
            <a:pPr marL="857250" lvl="1" indent="-457200">
              <a:lnSpc>
                <a:spcPct val="9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Segment games into 15-second intervals for consistent temporal granularity.</a:t>
            </a:r>
          </a:p>
          <a:p>
            <a:pPr marL="857250" lvl="1" indent="-457200">
              <a:lnSpc>
                <a:spcPct val="9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Extract player names and standardize event descriptions.</a:t>
            </a:r>
          </a:p>
        </p:txBody>
      </p:sp>
      <p:sp>
        <p:nvSpPr>
          <p:cNvPr id="6" name="Slide Number Placeholder 5">
            <a:extLst>
              <a:ext uri="{FF2B5EF4-FFF2-40B4-BE49-F238E27FC236}">
                <a16:creationId xmlns:a16="http://schemas.microsoft.com/office/drawing/2014/main" id="{4305A059-2689-0642-EF5E-991037095EF4}"/>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8</a:t>
            </a:fld>
            <a:endParaRPr lang="en-US" sz="2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007986-FB90-3FCE-1C67-7C57FB910848}"/>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090BB1-5019-200B-662A-544798F31A3A}"/>
              </a:ext>
            </a:extLst>
          </p:cNvPr>
          <p:cNvSpPr>
            <a:spLocks noGrp="1"/>
          </p:cNvSpPr>
          <p:nvPr>
            <p:ph type="title"/>
          </p:nvPr>
        </p:nvSpPr>
        <p:spPr>
          <a:xfrm>
            <a:off x="571352" y="350196"/>
            <a:ext cx="3485178" cy="1624520"/>
          </a:xfrm>
        </p:spPr>
        <p:txBody>
          <a:bodyPr anchor="ctr">
            <a:normAutofit/>
          </a:bodyPr>
          <a:lstStyle/>
          <a:p>
            <a:r>
              <a:rPr lang="en-US" sz="3500"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ABE9A0BE-49AC-B2E2-E474-9554DB0F4077}"/>
              </a:ext>
            </a:extLst>
          </p:cNvPr>
          <p:cNvSpPr>
            <a:spLocks noGrp="1"/>
          </p:cNvSpPr>
          <p:nvPr>
            <p:ph idx="1"/>
          </p:nvPr>
        </p:nvSpPr>
        <p:spPr>
          <a:xfrm>
            <a:off x="5120" y="2155976"/>
            <a:ext cx="4795480" cy="4648524"/>
          </a:xfrm>
        </p:spPr>
        <p:txBody>
          <a:bodyPr anchor="ctr">
            <a:noAutofit/>
          </a:bodyPr>
          <a:lstStyle/>
          <a:p>
            <a:pPr marL="0" indent="0">
              <a:lnSpc>
                <a:spcPct val="90000"/>
              </a:lnSpc>
              <a:buNone/>
            </a:pPr>
            <a:r>
              <a:rPr lang="en-US" sz="2000" b="1" dirty="0">
                <a:latin typeface="Times New Roman" panose="02020603050405020304" pitchFamily="18" charset="0"/>
                <a:cs typeface="Times New Roman" panose="02020603050405020304" pitchFamily="18" charset="0"/>
              </a:rPr>
              <a:t>Feature Engineering</a:t>
            </a:r>
          </a:p>
          <a:p>
            <a:pPr marL="0" indent="0">
              <a:lnSpc>
                <a:spcPct val="90000"/>
              </a:lnSpc>
              <a:buNone/>
            </a:pPr>
            <a:r>
              <a:rPr lang="en-US" sz="2000" dirty="0">
                <a:latin typeface="Times New Roman" panose="02020603050405020304" pitchFamily="18" charset="0"/>
                <a:cs typeface="Times New Roman" panose="02020603050405020304" pitchFamily="18" charset="0"/>
              </a:rPr>
              <a:t>Features Created:</a:t>
            </a:r>
          </a:p>
          <a:p>
            <a:pPr marL="685800" lvl="1">
              <a:lnSpc>
                <a:spcPct val="9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Contextual features: score differential, quarter, time remaining.</a:t>
            </a:r>
          </a:p>
          <a:p>
            <a:pPr marL="685800" lvl="1">
              <a:lnSpc>
                <a:spcPct val="9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Event-based features: one-hot encoding of event types (shot, rebound, foul, turnover).</a:t>
            </a:r>
          </a:p>
          <a:p>
            <a:pPr marL="685800" lvl="1">
              <a:lnSpc>
                <a:spcPct val="9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Player encodings: binary presence indicators for players on the court.</a:t>
            </a:r>
          </a:p>
          <a:p>
            <a:pPr marL="685800" lvl="1">
              <a:lnSpc>
                <a:spcPct val="9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Rolling metrics: </a:t>
            </a:r>
            <a:r>
              <a:rPr lang="en-US" sz="2000" dirty="0" err="1">
                <a:latin typeface="Times New Roman" panose="02020603050405020304" pitchFamily="18" charset="0"/>
                <a:cs typeface="Times New Roman" panose="02020603050405020304" pitchFamily="18" charset="0"/>
              </a:rPr>
              <a:t>RollingScore</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RollingFouls</a:t>
            </a:r>
            <a:r>
              <a:rPr lang="en-US" sz="2000" dirty="0">
                <a:latin typeface="Times New Roman" panose="02020603050405020304" pitchFamily="18" charset="0"/>
                <a:cs typeface="Times New Roman" panose="02020603050405020304" pitchFamily="18" charset="0"/>
              </a:rPr>
              <a:t> over last 10 events.</a:t>
            </a:r>
          </a:p>
          <a:p>
            <a:pPr marL="685800" lvl="1">
              <a:lnSpc>
                <a:spcPct val="9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Possession features: possession change indicators.</a:t>
            </a:r>
          </a:p>
        </p:txBody>
      </p:sp>
      <p:pic>
        <p:nvPicPr>
          <p:cNvPr id="5" name="Picture 4" descr="Financial graphs on a dark display">
            <a:extLst>
              <a:ext uri="{FF2B5EF4-FFF2-40B4-BE49-F238E27FC236}">
                <a16:creationId xmlns:a16="http://schemas.microsoft.com/office/drawing/2014/main" id="{F0ACAA92-05DB-B11A-1D20-00A2AF3D778E}"/>
              </a:ext>
            </a:extLst>
          </p:cNvPr>
          <p:cNvPicPr>
            <a:picLocks noChangeAspect="1"/>
          </p:cNvPicPr>
          <p:nvPr/>
        </p:nvPicPr>
        <p:blipFill>
          <a:blip r:embed="rId2"/>
          <a:srcRect l="26239" r="32048"/>
          <a:stretch>
            <a:fillRect/>
          </a:stretch>
        </p:blipFill>
        <p:spPr>
          <a:xfrm>
            <a:off x="4800600" y="1"/>
            <a:ext cx="4348518" cy="6858000"/>
          </a:xfrm>
          <a:prstGeom prst="rect">
            <a:avLst/>
          </a:prstGeom>
        </p:spPr>
      </p:pic>
      <p:sp>
        <p:nvSpPr>
          <p:cNvPr id="4" name="Slide Number Placeholder 3">
            <a:extLst>
              <a:ext uri="{FF2B5EF4-FFF2-40B4-BE49-F238E27FC236}">
                <a16:creationId xmlns:a16="http://schemas.microsoft.com/office/drawing/2014/main" id="{EE8C74C7-0B6D-FF83-01E8-283B1EEE46E4}"/>
              </a:ext>
            </a:extLst>
          </p:cNvPr>
          <p:cNvSpPr>
            <a:spLocks noGrp="1"/>
          </p:cNvSpPr>
          <p:nvPr>
            <p:ph type="sldNum" sz="quarter" idx="12"/>
          </p:nvPr>
        </p:nvSpPr>
        <p:spPr/>
        <p:txBody>
          <a:bodyPr/>
          <a:lstStyle/>
          <a:p>
            <a:fld id="{C1FF6DA9-008F-8B48-92A6-B652298478BF}" type="slidenum">
              <a:rPr lang="en-US" sz="2000" smtClean="0">
                <a:solidFill>
                  <a:schemeClr val="bg1"/>
                </a:solidFill>
                <a:latin typeface="Times New Roman" panose="02020603050405020304" pitchFamily="18" charset="0"/>
                <a:cs typeface="Times New Roman" panose="02020603050405020304" pitchFamily="18" charset="0"/>
              </a:rPr>
              <a:t>9</a:t>
            </a:fld>
            <a:endParaRPr lang="en-US"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6918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0290B8-8FDB-2695-E3BE-0ECBB3877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32DAEE-4628-1947-F65F-F68BAAD6C8D5}"/>
              </a:ext>
            </a:extLst>
          </p:cNvPr>
          <p:cNvSpPr>
            <a:spLocks noGrp="1"/>
          </p:cNvSpPr>
          <p:nvPr>
            <p:ph type="title"/>
          </p:nvPr>
        </p:nvSpPr>
        <p:spPr>
          <a:xfrm>
            <a:off x="270295" y="-739904"/>
            <a:ext cx="3914480" cy="1616203"/>
          </a:xfrm>
        </p:spPr>
        <p:txBody>
          <a:bodyPr anchor="b">
            <a:normAutofit/>
          </a:bodyPr>
          <a:lstStyle/>
          <a:p>
            <a:r>
              <a:rPr lang="en-US" sz="4500" dirty="0">
                <a:latin typeface="Times New Roman" panose="02020603050405020304" pitchFamily="18" charset="0"/>
                <a:cs typeface="Times New Roman" panose="02020603050405020304" pitchFamily="18" charset="0"/>
              </a:rPr>
              <a:t>Methodology</a:t>
            </a:r>
          </a:p>
        </p:txBody>
      </p:sp>
      <p:pic>
        <p:nvPicPr>
          <p:cNvPr id="5" name="Picture 4" descr="A person in basketball uniform jumping with a basketball&#10;&#10;AI-generated content may be incorrect.">
            <a:extLst>
              <a:ext uri="{FF2B5EF4-FFF2-40B4-BE49-F238E27FC236}">
                <a16:creationId xmlns:a16="http://schemas.microsoft.com/office/drawing/2014/main" id="{80D2D2BB-4DA0-9365-553A-F995967CD385}"/>
              </a:ext>
            </a:extLst>
          </p:cNvPr>
          <p:cNvPicPr>
            <a:picLocks noChangeAspect="1"/>
          </p:cNvPicPr>
          <p:nvPr/>
        </p:nvPicPr>
        <p:blipFill>
          <a:blip r:embed="rId2"/>
          <a:stretch>
            <a:fillRect/>
          </a:stretch>
        </p:blipFill>
        <p:spPr>
          <a:xfrm>
            <a:off x="590335" y="1889101"/>
            <a:ext cx="2627494" cy="2361418"/>
          </a:xfrm>
          <a:prstGeom prst="rect">
            <a:avLst/>
          </a:prstGeom>
        </p:spPr>
      </p:pic>
      <p:sp>
        <p:nvSpPr>
          <p:cNvPr id="3" name="Content Placeholder 2">
            <a:extLst>
              <a:ext uri="{FF2B5EF4-FFF2-40B4-BE49-F238E27FC236}">
                <a16:creationId xmlns:a16="http://schemas.microsoft.com/office/drawing/2014/main" id="{3B596774-F373-D948-7424-22706BF65566}"/>
              </a:ext>
            </a:extLst>
          </p:cNvPr>
          <p:cNvSpPr>
            <a:spLocks noGrp="1"/>
          </p:cNvSpPr>
          <p:nvPr>
            <p:ph idx="1"/>
          </p:nvPr>
        </p:nvSpPr>
        <p:spPr>
          <a:xfrm>
            <a:off x="3596640" y="1159685"/>
            <a:ext cx="5379720" cy="4959176"/>
          </a:xfrm>
        </p:spPr>
        <p:txBody>
          <a:bodyPr anchor="t">
            <a:noAutofit/>
          </a:bodyPr>
          <a:lstStyle/>
          <a:p>
            <a:pPr marL="0" indent="0">
              <a:buNone/>
            </a:pPr>
            <a:r>
              <a:rPr lang="en-US" sz="2400" b="1" dirty="0">
                <a:latin typeface="Times New Roman" panose="02020603050405020304" pitchFamily="18" charset="0"/>
                <a:cs typeface="Times New Roman" panose="02020603050405020304" pitchFamily="18" charset="0"/>
              </a:rPr>
              <a:t>Player Impact Estimation</a:t>
            </a:r>
          </a:p>
          <a:p>
            <a:pPr marL="0" indent="0">
              <a:buNone/>
            </a:pPr>
            <a:r>
              <a:rPr lang="en-US" sz="2500" dirty="0">
                <a:latin typeface="Times New Roman" panose="02020603050405020304" pitchFamily="18" charset="0"/>
                <a:cs typeface="Times New Roman" panose="02020603050405020304" pitchFamily="18" charset="0"/>
              </a:rPr>
              <a:t>Model 1: LASSO Logistic Regression</a:t>
            </a:r>
          </a:p>
          <a:p>
            <a:pPr>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Predicts whether a positive outcome (made shot, rebound, or forced turnover) occurs in an interval.</a:t>
            </a:r>
          </a:p>
          <a:p>
            <a:pPr>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Reasoning: L1 penalty ensures interpretability by shrinking non-informative coefficients to zero.</a:t>
            </a:r>
          </a:p>
          <a:p>
            <a:pPr>
              <a:buFont typeface="Wingdings" panose="05000000000000000000" pitchFamily="2" charset="2"/>
              <a:buChar char="§"/>
            </a:pPr>
            <a:r>
              <a:rPr lang="en-US" sz="2500" dirty="0">
                <a:latin typeface="Times New Roman" panose="02020603050405020304" pitchFamily="18" charset="0"/>
                <a:cs typeface="Times New Roman" panose="02020603050405020304" pitchFamily="18" charset="0"/>
              </a:rPr>
              <a:t>Libraries: scikit-learn (LogisticRegression, metrics like </a:t>
            </a:r>
            <a:r>
              <a:rPr lang="en-US" sz="2500" dirty="0" err="1">
                <a:latin typeface="Times New Roman" panose="02020603050405020304" pitchFamily="18" charset="0"/>
                <a:cs typeface="Times New Roman" panose="02020603050405020304" pitchFamily="18" charset="0"/>
              </a:rPr>
              <a:t>accuracy_score</a:t>
            </a:r>
            <a:r>
              <a:rPr lang="en-US" sz="2500" dirty="0">
                <a:latin typeface="Times New Roman" panose="02020603050405020304" pitchFamily="18" charset="0"/>
                <a:cs typeface="Times New Roman" panose="02020603050405020304" pitchFamily="18" charset="0"/>
              </a:rPr>
              <a:t>, f1_score).</a:t>
            </a:r>
          </a:p>
        </p:txBody>
      </p:sp>
      <p:grpSp>
        <p:nvGrpSpPr>
          <p:cNvPr id="10" name="Group 9">
            <a:extLst>
              <a:ext uri="{FF2B5EF4-FFF2-40B4-BE49-F238E27FC236}">
                <a16:creationId xmlns:a16="http://schemas.microsoft.com/office/drawing/2014/main" id="{16C73AF9-0D33-5C66-5D79-0D0129904B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68" y="6737718"/>
            <a:ext cx="9155399" cy="123363"/>
            <a:chOff x="-5025" y="6737718"/>
            <a:chExt cx="12207200" cy="123363"/>
          </a:xfrm>
        </p:grpSpPr>
        <p:sp>
          <p:nvSpPr>
            <p:cNvPr id="11" name="Rectangle 10">
              <a:extLst>
                <a:ext uri="{FF2B5EF4-FFF2-40B4-BE49-F238E27FC236}">
                  <a16:creationId xmlns:a16="http://schemas.microsoft.com/office/drawing/2014/main" id="{ED96FD6F-5EE9-36C7-C200-3111EF6D0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A39BB2-02C1-8A8B-8021-68446E0474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Slide Number Placeholder 5">
            <a:extLst>
              <a:ext uri="{FF2B5EF4-FFF2-40B4-BE49-F238E27FC236}">
                <a16:creationId xmlns:a16="http://schemas.microsoft.com/office/drawing/2014/main" id="{401474F5-2BA7-53CF-4B44-4CA72D02DC58}"/>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10</a:t>
            </a:fld>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2330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C3A8F0-BFC3-CFE7-AE43-E5C87C08D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65BDD6-2298-513D-A6CD-A979D9B39A66}"/>
              </a:ext>
            </a:extLst>
          </p:cNvPr>
          <p:cNvSpPr>
            <a:spLocks noGrp="1"/>
          </p:cNvSpPr>
          <p:nvPr>
            <p:ph type="title"/>
          </p:nvPr>
        </p:nvSpPr>
        <p:spPr>
          <a:xfrm>
            <a:off x="413328" y="2049594"/>
            <a:ext cx="3592830" cy="966846"/>
          </a:xfrm>
        </p:spPr>
        <p:txBody>
          <a:bodyPr anchor="t">
            <a:normAutofit/>
          </a:bodyPr>
          <a:lstStyle/>
          <a:p>
            <a:r>
              <a:rPr lang="en-US" sz="4500"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F2C777A2-8E26-0A11-2821-5C2F3E85796A}"/>
              </a:ext>
            </a:extLst>
          </p:cNvPr>
          <p:cNvSpPr>
            <a:spLocks noGrp="1"/>
          </p:cNvSpPr>
          <p:nvPr>
            <p:ph idx="1"/>
          </p:nvPr>
        </p:nvSpPr>
        <p:spPr>
          <a:xfrm>
            <a:off x="4219518" y="556702"/>
            <a:ext cx="5137841" cy="2106334"/>
          </a:xfrm>
        </p:spPr>
        <p:txBody>
          <a:bodyPr anchor="t">
            <a:noAutofit/>
          </a:bodyPr>
          <a:lstStyle/>
          <a:p>
            <a:pPr marL="0" indent="0">
              <a:lnSpc>
                <a:spcPct val="90000"/>
              </a:lnSpc>
              <a:buNone/>
            </a:pPr>
            <a:r>
              <a:rPr lang="en-US" sz="2000" b="1" dirty="0">
                <a:latin typeface="Times New Roman" panose="02020603050405020304" pitchFamily="18" charset="0"/>
                <a:cs typeface="Times New Roman" panose="02020603050405020304" pitchFamily="18" charset="0"/>
              </a:rPr>
              <a:t>Player Impact Estimation</a:t>
            </a:r>
          </a:p>
          <a:p>
            <a:pPr marL="0" indent="0">
              <a:lnSpc>
                <a:spcPct val="90000"/>
              </a:lnSpc>
              <a:buNone/>
            </a:pPr>
            <a:r>
              <a:rPr lang="en-US" sz="2000" dirty="0">
                <a:latin typeface="Times New Roman" panose="02020603050405020304" pitchFamily="18" charset="0"/>
                <a:cs typeface="Times New Roman" panose="02020603050405020304" pitchFamily="18" charset="0"/>
              </a:rPr>
              <a:t>Model 2: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Classifier</a:t>
            </a:r>
          </a:p>
          <a:p>
            <a:pPr>
              <a:lnSpc>
                <a:spcPct val="9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Captures nonlinear interactions between players, score context, and events.</a:t>
            </a:r>
          </a:p>
          <a:p>
            <a:pPr>
              <a:lnSpc>
                <a:spcPct val="9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Provides feature importance and SHAP explanations.</a:t>
            </a:r>
          </a:p>
          <a:p>
            <a:pPr>
              <a:lnSpc>
                <a:spcPct val="9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Libraries:</a:t>
            </a:r>
          </a:p>
          <a:p>
            <a:pPr marL="685800" lvl="1">
              <a:lnSpc>
                <a:spcPct val="90000"/>
              </a:lnSpc>
              <a:buFont typeface="Wingdings" panose="05000000000000000000" pitchFamily="2" charset="2"/>
              <a:buChar char="§"/>
            </a:pP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 gradient boosting implementation.</a:t>
            </a:r>
          </a:p>
          <a:p>
            <a:pPr marL="685800" lvl="1">
              <a:lnSpc>
                <a:spcPct val="90000"/>
              </a:lnSpc>
              <a:buFont typeface="Wingdings" panose="05000000000000000000" pitchFamily="2" charset="2"/>
              <a:buChar char="§"/>
            </a:pPr>
            <a:r>
              <a:rPr lang="en-US" sz="2000" dirty="0" err="1">
                <a:latin typeface="Times New Roman" panose="02020603050405020304" pitchFamily="18" charset="0"/>
                <a:cs typeface="Times New Roman" panose="02020603050405020304" pitchFamily="18" charset="0"/>
              </a:rPr>
              <a:t>shap</a:t>
            </a:r>
            <a:r>
              <a:rPr lang="en-US" sz="2000" dirty="0">
                <a:latin typeface="Times New Roman" panose="02020603050405020304" pitchFamily="18" charset="0"/>
                <a:cs typeface="Times New Roman" panose="02020603050405020304" pitchFamily="18" charset="0"/>
              </a:rPr>
              <a:t> – model interpretability through SHAP values.</a:t>
            </a:r>
          </a:p>
        </p:txBody>
      </p:sp>
      <p:pic>
        <p:nvPicPr>
          <p:cNvPr id="5" name="Picture 4" descr="A diagram of a basketball hoop&#10;&#10;AI-generated content may be incorrect.">
            <a:extLst>
              <a:ext uri="{FF2B5EF4-FFF2-40B4-BE49-F238E27FC236}">
                <a16:creationId xmlns:a16="http://schemas.microsoft.com/office/drawing/2014/main" id="{8B104064-CD67-8208-6A13-1C098F39DF46}"/>
              </a:ext>
            </a:extLst>
          </p:cNvPr>
          <p:cNvPicPr>
            <a:picLocks noChangeAspect="1"/>
          </p:cNvPicPr>
          <p:nvPr/>
        </p:nvPicPr>
        <p:blipFill>
          <a:blip r:embed="rId2"/>
          <a:stretch>
            <a:fillRect/>
          </a:stretch>
        </p:blipFill>
        <p:spPr>
          <a:xfrm>
            <a:off x="807708" y="4166217"/>
            <a:ext cx="7848612" cy="2115022"/>
          </a:xfrm>
          <a:prstGeom prst="rect">
            <a:avLst/>
          </a:prstGeom>
        </p:spPr>
      </p:pic>
      <p:grpSp>
        <p:nvGrpSpPr>
          <p:cNvPr id="10" name="Group 9">
            <a:extLst>
              <a:ext uri="{FF2B5EF4-FFF2-40B4-BE49-F238E27FC236}">
                <a16:creationId xmlns:a16="http://schemas.microsoft.com/office/drawing/2014/main" id="{E4A41B9E-A0C8-F78B-E5B6-A0D02D8810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68" y="6737718"/>
            <a:ext cx="9155399" cy="123363"/>
            <a:chOff x="-5025" y="6737718"/>
            <a:chExt cx="12207200" cy="123363"/>
          </a:xfrm>
        </p:grpSpPr>
        <p:sp>
          <p:nvSpPr>
            <p:cNvPr id="11" name="Rectangle 10">
              <a:extLst>
                <a:ext uri="{FF2B5EF4-FFF2-40B4-BE49-F238E27FC236}">
                  <a16:creationId xmlns:a16="http://schemas.microsoft.com/office/drawing/2014/main" id="{F27C9029-9BF9-D125-90D6-AB03931B0B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CF84619-412D-A0C9-3DC9-47C3A42B9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Slide Number Placeholder 5">
            <a:extLst>
              <a:ext uri="{FF2B5EF4-FFF2-40B4-BE49-F238E27FC236}">
                <a16:creationId xmlns:a16="http://schemas.microsoft.com/office/drawing/2014/main" id="{9395D858-EEED-76EB-5243-67D42EE4E02E}"/>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11</a:t>
            </a:fld>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8444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40497D-D954-69BA-1031-C70DFB9571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91E99D-ABB4-1BE1-B213-DDD68ADACBCD}"/>
              </a:ext>
            </a:extLst>
          </p:cNvPr>
          <p:cNvSpPr>
            <a:spLocks noGrp="1"/>
          </p:cNvSpPr>
          <p:nvPr>
            <p:ph type="title"/>
          </p:nvPr>
        </p:nvSpPr>
        <p:spPr>
          <a:xfrm>
            <a:off x="20" y="3021329"/>
            <a:ext cx="2468166" cy="2452687"/>
          </a:xfrm>
        </p:spPr>
        <p:txBody>
          <a:bodyPr anchor="ctr">
            <a:normAutofit/>
          </a:bodyPr>
          <a:lstStyle/>
          <a:p>
            <a:r>
              <a:rPr lang="en-US" sz="3100" dirty="0">
                <a:latin typeface="Times New Roman" panose="02020603050405020304" pitchFamily="18" charset="0"/>
                <a:cs typeface="Times New Roman" panose="02020603050405020304" pitchFamily="18" charset="0"/>
              </a:rPr>
              <a:t>Methodology</a:t>
            </a:r>
          </a:p>
        </p:txBody>
      </p:sp>
      <p:pic>
        <p:nvPicPr>
          <p:cNvPr id="5" name="Picture 4">
            <a:extLst>
              <a:ext uri="{FF2B5EF4-FFF2-40B4-BE49-F238E27FC236}">
                <a16:creationId xmlns:a16="http://schemas.microsoft.com/office/drawing/2014/main" id="{0B2900C8-E68A-1D43-F076-4B311044BB71}"/>
              </a:ext>
            </a:extLst>
          </p:cNvPr>
          <p:cNvPicPr>
            <a:picLocks noChangeAspect="1"/>
          </p:cNvPicPr>
          <p:nvPr/>
        </p:nvPicPr>
        <p:blipFill>
          <a:blip r:embed="rId2"/>
          <a:srcRect t="8810"/>
          <a:stretch>
            <a:fillRect/>
          </a:stretch>
        </p:blipFill>
        <p:spPr>
          <a:xfrm>
            <a:off x="20" y="-203499"/>
            <a:ext cx="9143960" cy="3632499"/>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46736FD1-9DFF-9E90-A8F6-1B77F1B7B20D}"/>
              </a:ext>
            </a:extLst>
          </p:cNvPr>
          <p:cNvSpPr>
            <a:spLocks noGrp="1"/>
          </p:cNvSpPr>
          <p:nvPr>
            <p:ph idx="1"/>
          </p:nvPr>
        </p:nvSpPr>
        <p:spPr>
          <a:xfrm>
            <a:off x="2468186" y="3870959"/>
            <a:ext cx="6538654" cy="2265671"/>
          </a:xfrm>
        </p:spPr>
        <p:txBody>
          <a:bodyPr anchor="ctr">
            <a:noAutofit/>
          </a:bodyPr>
          <a:lstStyle/>
          <a:p>
            <a:pPr marL="0" indent="0">
              <a:lnSpc>
                <a:spcPct val="90000"/>
              </a:lnSpc>
              <a:buNone/>
            </a:pPr>
            <a:r>
              <a:rPr lang="en-US" sz="2000" b="1" dirty="0">
                <a:latin typeface="Times New Roman" panose="02020603050405020304" pitchFamily="18" charset="0"/>
                <a:cs typeface="Times New Roman" panose="02020603050405020304" pitchFamily="18" charset="0"/>
              </a:rPr>
              <a:t>Momentum Phase Detection</a:t>
            </a:r>
          </a:p>
          <a:p>
            <a:pPr marL="0" indent="0">
              <a:lnSpc>
                <a:spcPct val="90000"/>
              </a:lnSpc>
              <a:buNone/>
            </a:pPr>
            <a:r>
              <a:rPr lang="en-US" sz="2000" dirty="0">
                <a:latin typeface="Times New Roman" panose="02020603050405020304" pitchFamily="18" charset="0"/>
                <a:cs typeface="Times New Roman" panose="02020603050405020304" pitchFamily="18" charset="0"/>
              </a:rPr>
              <a:t>Bayesian Change-Point Analysis:</a:t>
            </a:r>
          </a:p>
          <a:p>
            <a:pPr>
              <a:lnSpc>
                <a:spcPct val="9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Detects structural changes in the score differential time series.</a:t>
            </a:r>
          </a:p>
          <a:p>
            <a:pPr>
              <a:lnSpc>
                <a:spcPct val="9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Breakpoints define transitions between positive, negative, and neutral momentum phases.</a:t>
            </a:r>
          </a:p>
          <a:p>
            <a:pPr>
              <a:lnSpc>
                <a:spcPct val="9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Libraries: ruptures</a:t>
            </a:r>
          </a:p>
          <a:p>
            <a:pPr marL="0" indent="0">
              <a:lnSpc>
                <a:spcPct val="90000"/>
              </a:lnSpc>
              <a:buNone/>
            </a:pPr>
            <a:r>
              <a:rPr lang="en-US" sz="2000" dirty="0">
                <a:latin typeface="Times New Roman" panose="02020603050405020304" pitchFamily="18" charset="0"/>
                <a:cs typeface="Times New Roman" panose="02020603050405020304" pitchFamily="18" charset="0"/>
              </a:rPr>
              <a:t>Momentum Classification with Random Forests:</a:t>
            </a:r>
          </a:p>
          <a:p>
            <a:pPr>
              <a:lnSpc>
                <a:spcPct val="9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Classifies each interval into momentum states using engineered features.</a:t>
            </a:r>
          </a:p>
          <a:p>
            <a:pPr>
              <a:lnSpc>
                <a:spcPct val="9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Libraries: scikit-learn (</a:t>
            </a:r>
            <a:r>
              <a:rPr lang="en-US" sz="2000" dirty="0" err="1">
                <a:latin typeface="Times New Roman" panose="02020603050405020304" pitchFamily="18" charset="0"/>
                <a:cs typeface="Times New Roman" panose="02020603050405020304" pitchFamily="18" charset="0"/>
              </a:rPr>
              <a:t>RandomForestClassifier</a:t>
            </a:r>
            <a:r>
              <a:rPr lang="en-US" sz="2000" dirty="0">
                <a:latin typeface="Times New Roman" panose="02020603050405020304" pitchFamily="18" charset="0"/>
                <a:cs typeface="Times New Roman" panose="02020603050405020304" pitchFamily="18" charset="0"/>
              </a:rPr>
              <a:t>).</a:t>
            </a:r>
          </a:p>
        </p:txBody>
      </p:sp>
      <p:sp>
        <p:nvSpPr>
          <p:cNvPr id="6" name="Slide Number Placeholder 5">
            <a:extLst>
              <a:ext uri="{FF2B5EF4-FFF2-40B4-BE49-F238E27FC236}">
                <a16:creationId xmlns:a16="http://schemas.microsoft.com/office/drawing/2014/main" id="{5A81FB73-6530-00F1-17C5-E9F5E7279BF7}"/>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12</a:t>
            </a:fld>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3453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F5079D-A2E0-E776-BB2B-1AA4BC12D5C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up of yellow balls&#10;&#10;AI-generated content may be incorrect.">
            <a:extLst>
              <a:ext uri="{FF2B5EF4-FFF2-40B4-BE49-F238E27FC236}">
                <a16:creationId xmlns:a16="http://schemas.microsoft.com/office/drawing/2014/main" id="{F50FD25C-2DE8-3B40-2109-4826E4DA13CB}"/>
              </a:ext>
            </a:extLst>
          </p:cNvPr>
          <p:cNvPicPr>
            <a:picLocks noChangeAspect="1"/>
          </p:cNvPicPr>
          <p:nvPr/>
        </p:nvPicPr>
        <p:blipFill>
          <a:blip r:embed="rId2"/>
          <a:srcRect l="11042" r="20750" b="-1"/>
          <a:stretch>
            <a:fillRect/>
          </a:stretch>
        </p:blipFill>
        <p:spPr>
          <a:xfrm>
            <a:off x="20" y="10"/>
            <a:ext cx="7252212" cy="6857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843764" y="0"/>
            <a:ext cx="530023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59BCDAB-D94B-35DC-75B8-95E68E6BEE82}"/>
              </a:ext>
            </a:extLst>
          </p:cNvPr>
          <p:cNvSpPr>
            <a:spLocks noGrp="1"/>
          </p:cNvSpPr>
          <p:nvPr>
            <p:ph type="title"/>
          </p:nvPr>
        </p:nvSpPr>
        <p:spPr>
          <a:xfrm>
            <a:off x="5648707" y="121607"/>
            <a:ext cx="2866642" cy="1899912"/>
          </a:xfrm>
        </p:spPr>
        <p:txBody>
          <a:bodyPr>
            <a:normAutofit/>
          </a:bodyPr>
          <a:lstStyle/>
          <a:p>
            <a:r>
              <a:rPr lang="en-US" sz="3500"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EF51D6AF-AF74-77E2-61F1-01BDDD06FE00}"/>
              </a:ext>
            </a:extLst>
          </p:cNvPr>
          <p:cNvSpPr>
            <a:spLocks noGrp="1"/>
          </p:cNvSpPr>
          <p:nvPr>
            <p:ph idx="1"/>
          </p:nvPr>
        </p:nvSpPr>
        <p:spPr>
          <a:xfrm>
            <a:off x="5273040" y="1752600"/>
            <a:ext cx="3242309" cy="4424363"/>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Model Evaluation and Visualization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Evaluation Metrics: Accuracy, Precision, Recall, F1-score, AUC-ROC.</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Visualization:</a:t>
            </a:r>
          </a:p>
          <a:p>
            <a:pPr marL="685800" lvl="1">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Player impact curves across games.</a:t>
            </a:r>
          </a:p>
          <a:p>
            <a:pPr marL="685800" lvl="1">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Score differential with detected change-points.</a:t>
            </a:r>
          </a:p>
          <a:p>
            <a:pPr marL="685800" lvl="1">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Momentum phase overlays.</a:t>
            </a:r>
          </a:p>
        </p:txBody>
      </p:sp>
      <p:sp>
        <p:nvSpPr>
          <p:cNvPr id="6" name="Slide Number Placeholder 5">
            <a:extLst>
              <a:ext uri="{FF2B5EF4-FFF2-40B4-BE49-F238E27FC236}">
                <a16:creationId xmlns:a16="http://schemas.microsoft.com/office/drawing/2014/main" id="{22FF856D-457C-5387-E17A-D3C7A33DB040}"/>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13</a:t>
            </a:fld>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6819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E72FC-ECF9-C0BA-46DA-D2D07B8345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14C27-477B-8C5E-AFEA-E20CC0F6C2B9}"/>
              </a:ext>
            </a:extLst>
          </p:cNvPr>
          <p:cNvSpPr>
            <a:spLocks noGrp="1"/>
          </p:cNvSpPr>
          <p:nvPr>
            <p:ph type="title"/>
          </p:nvPr>
        </p:nvSpPr>
        <p:spPr/>
        <p:txBody>
          <a:bodyPr/>
          <a:lstStyle/>
          <a:p>
            <a:r>
              <a:rPr dirty="0"/>
              <a:t>Results </a:t>
            </a:r>
            <a:r>
              <a:rPr dirty="0">
                <a:latin typeface="Times New Roman" panose="02020603050405020304" pitchFamily="18" charset="0"/>
                <a:cs typeface="Times New Roman" panose="02020603050405020304" pitchFamily="18" charset="0"/>
              </a:rPr>
              <a:t>Summary</a:t>
            </a:r>
          </a:p>
        </p:txBody>
      </p:sp>
      <p:pic>
        <p:nvPicPr>
          <p:cNvPr id="3" name="Picture 2" descr="A graph with lines and numbers&#10;&#10;AI-generated content may be incorrect.">
            <a:extLst>
              <a:ext uri="{FF2B5EF4-FFF2-40B4-BE49-F238E27FC236}">
                <a16:creationId xmlns:a16="http://schemas.microsoft.com/office/drawing/2014/main" id="{C92D8F55-8BDB-014E-6DE0-FC6B9559F7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975" y="2336159"/>
            <a:ext cx="7540050" cy="3222334"/>
          </a:xfrm>
          <a:prstGeom prst="rect">
            <a:avLst/>
          </a:prstGeom>
        </p:spPr>
      </p:pic>
      <p:sp>
        <p:nvSpPr>
          <p:cNvPr id="5" name="TextBox 4">
            <a:extLst>
              <a:ext uri="{FF2B5EF4-FFF2-40B4-BE49-F238E27FC236}">
                <a16:creationId xmlns:a16="http://schemas.microsoft.com/office/drawing/2014/main" id="{82BB32DF-3A33-4B8F-5C33-8D33E0488E13}"/>
              </a:ext>
            </a:extLst>
          </p:cNvPr>
          <p:cNvSpPr txBox="1"/>
          <p:nvPr/>
        </p:nvSpPr>
        <p:spPr>
          <a:xfrm>
            <a:off x="457200" y="1417638"/>
            <a:ext cx="8229599" cy="584775"/>
          </a:xfrm>
          <a:prstGeom prst="rect">
            <a:avLst/>
          </a:prstGeom>
          <a:noFill/>
        </p:spPr>
        <p:txBody>
          <a:bodyPr wrap="square" rtlCol="0">
            <a:spAutoFit/>
          </a:bodyPr>
          <a:lstStyle/>
          <a:p>
            <a:r>
              <a:rPr lang="en-US" sz="1600" dirty="0">
                <a:effectLst/>
                <a:latin typeface="Times New Roman" panose="02020603050405020304" pitchFamily="18" charset="0"/>
                <a:ea typeface="Aptos" panose="020B0004020202020204" pitchFamily="34" charset="0"/>
              </a:rPr>
              <a:t>Score Differential and change points for the game using LASSO regularized logistic regression</a:t>
            </a:r>
          </a:p>
          <a:p>
            <a:r>
              <a:rPr lang="en-US" sz="1600" dirty="0">
                <a:latin typeface="Times New Roman" panose="02020603050405020304" pitchFamily="18" charset="0"/>
              </a:rPr>
              <a:t>(For a single game)</a:t>
            </a:r>
            <a:endParaRPr lang="en-US" sz="1600" dirty="0"/>
          </a:p>
        </p:txBody>
      </p:sp>
      <p:sp>
        <p:nvSpPr>
          <p:cNvPr id="4" name="Slide Number Placeholder 3">
            <a:extLst>
              <a:ext uri="{FF2B5EF4-FFF2-40B4-BE49-F238E27FC236}">
                <a16:creationId xmlns:a16="http://schemas.microsoft.com/office/drawing/2014/main" id="{C776C9ED-868F-8A57-0599-C7A4C9D0DDAA}"/>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14</a:t>
            </a:fld>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3249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6478B7-40DC-8B83-7E35-A1BFAB9F96D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rson jumping in the air with a basketball&#10;&#10;AI-generated content may be incorrect.">
            <a:extLst>
              <a:ext uri="{FF2B5EF4-FFF2-40B4-BE49-F238E27FC236}">
                <a16:creationId xmlns:a16="http://schemas.microsoft.com/office/drawing/2014/main" id="{3220C145-3D74-5C0E-71BE-39E495EA5EFA}"/>
              </a:ext>
            </a:extLst>
          </p:cNvPr>
          <p:cNvPicPr>
            <a:picLocks noChangeAspect="1"/>
          </p:cNvPicPr>
          <p:nvPr/>
        </p:nvPicPr>
        <p:blipFill>
          <a:blip r:embed="rId2"/>
          <a:srcRect t="2160" r="1" b="34719"/>
          <a:stretch>
            <a:fillRect/>
          </a:stretch>
        </p:blipFill>
        <p:spPr>
          <a:xfrm>
            <a:off x="-2284" y="10"/>
            <a:ext cx="5821956" cy="6857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843764" y="0"/>
            <a:ext cx="530023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244A56F-1381-6224-2D4B-D177EF3B76B2}"/>
              </a:ext>
            </a:extLst>
          </p:cNvPr>
          <p:cNvSpPr>
            <a:spLocks noGrp="1"/>
          </p:cNvSpPr>
          <p:nvPr>
            <p:ph type="title"/>
          </p:nvPr>
        </p:nvSpPr>
        <p:spPr>
          <a:xfrm>
            <a:off x="4008120" y="20328"/>
            <a:ext cx="4400549" cy="1899912"/>
          </a:xfrm>
        </p:spPr>
        <p:txBody>
          <a:bodyPr>
            <a:noAutofit/>
          </a:bodyPr>
          <a:lstStyle/>
          <a:p>
            <a:r>
              <a:rPr lang="en-US" sz="4500" dirty="0">
                <a:latin typeface="Times New Roman" panose="02020603050405020304" pitchFamily="18" charset="0"/>
                <a:cs typeface="Times New Roman" panose="02020603050405020304" pitchFamily="18" charset="0"/>
              </a:rPr>
              <a:t>Player Impact Insight</a:t>
            </a:r>
          </a:p>
        </p:txBody>
      </p:sp>
      <p:sp>
        <p:nvSpPr>
          <p:cNvPr id="3" name="Content Placeholder 2">
            <a:extLst>
              <a:ext uri="{FF2B5EF4-FFF2-40B4-BE49-F238E27FC236}">
                <a16:creationId xmlns:a16="http://schemas.microsoft.com/office/drawing/2014/main" id="{3ED2ED4C-035C-CFCA-80D9-60919EF4C83E}"/>
              </a:ext>
            </a:extLst>
          </p:cNvPr>
          <p:cNvSpPr>
            <a:spLocks noGrp="1"/>
          </p:cNvSpPr>
          <p:nvPr>
            <p:ph idx="1"/>
          </p:nvPr>
        </p:nvSpPr>
        <p:spPr>
          <a:xfrm>
            <a:off x="4465320" y="1920240"/>
            <a:ext cx="4651248" cy="4256723"/>
          </a:xfrm>
        </p:spPr>
        <p:txBody>
          <a:bodyPr>
            <a:noAutofit/>
          </a:bodyPr>
          <a:lstStyle/>
          <a:p>
            <a:pPr marL="0" indent="0">
              <a:lnSpc>
                <a:spcPct val="90000"/>
              </a:lnSpc>
              <a:buNone/>
            </a:pPr>
            <a:r>
              <a:rPr lang="en-US" sz="2000" b="1" dirty="0">
                <a:latin typeface="Times New Roman" panose="02020603050405020304" pitchFamily="18" charset="0"/>
                <a:cs typeface="Times New Roman" panose="02020603050405020304" pitchFamily="18" charset="0"/>
              </a:rPr>
              <a:t>LASSO Logistic Regression – Player Impact</a:t>
            </a:r>
          </a:p>
          <a:p>
            <a:pPr>
              <a:lnSpc>
                <a:spcPct val="9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Key Contributors Identified</a:t>
            </a:r>
            <a:r>
              <a:rPr lang="en-US" sz="2000" dirty="0">
                <a:latin typeface="Times New Roman" panose="02020603050405020304" pitchFamily="18" charset="0"/>
                <a:cs typeface="Times New Roman" panose="02020603050405020304" pitchFamily="18" charset="0"/>
              </a:rPr>
              <a:t>: Players like </a:t>
            </a:r>
            <a:r>
              <a:rPr lang="en-US" sz="2000" i="1" dirty="0">
                <a:latin typeface="Times New Roman" panose="02020603050405020304" pitchFamily="18" charset="0"/>
                <a:cs typeface="Times New Roman" panose="02020603050405020304" pitchFamily="18" charset="0"/>
              </a:rPr>
              <a:t>J. Allen</a:t>
            </a:r>
            <a:r>
              <a:rPr lang="en-US" sz="2000" dirty="0">
                <a:latin typeface="Times New Roman" panose="02020603050405020304" pitchFamily="18" charset="0"/>
                <a:cs typeface="Times New Roman" panose="02020603050405020304" pitchFamily="18" charset="0"/>
              </a:rPr>
              <a:t> and </a:t>
            </a:r>
            <a:r>
              <a:rPr lang="en-US" sz="2000" i="1" dirty="0">
                <a:latin typeface="Times New Roman" panose="02020603050405020304" pitchFamily="18" charset="0"/>
                <a:cs typeface="Times New Roman" panose="02020603050405020304" pitchFamily="18" charset="0"/>
              </a:rPr>
              <a:t>B. Bowen</a:t>
            </a:r>
            <a:r>
              <a:rPr lang="en-US" sz="2000" dirty="0">
                <a:latin typeface="Times New Roman" panose="02020603050405020304" pitchFamily="18" charset="0"/>
                <a:cs typeface="Times New Roman" panose="02020603050405020304" pitchFamily="18" charset="0"/>
              </a:rPr>
              <a:t> were rewarded for rebounds and shot-making impact.</a:t>
            </a:r>
          </a:p>
          <a:p>
            <a:pPr>
              <a:lnSpc>
                <a:spcPct val="9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Negative Signals</a:t>
            </a:r>
            <a:r>
              <a:rPr lang="en-US" sz="2000" dirty="0">
                <a:latin typeface="Times New Roman" panose="02020603050405020304" pitchFamily="18" charset="0"/>
                <a:cs typeface="Times New Roman" panose="02020603050405020304" pitchFamily="18" charset="0"/>
              </a:rPr>
              <a:t>: Fouls and low-value plays penalized (e.g., </a:t>
            </a:r>
            <a:r>
              <a:rPr lang="en-US" sz="2000" i="1" dirty="0">
                <a:latin typeface="Times New Roman" panose="02020603050405020304" pitchFamily="18" charset="0"/>
                <a:cs typeface="Times New Roman" panose="02020603050405020304" pitchFamily="18" charset="0"/>
              </a:rPr>
              <a:t>K. Blevins, N. Hinton</a:t>
            </a:r>
            <a:r>
              <a:rPr lang="en-US" sz="2000" dirty="0">
                <a:latin typeface="Times New Roman" panose="02020603050405020304" pitchFamily="18" charset="0"/>
                <a:cs typeface="Times New Roman" panose="02020603050405020304" pitchFamily="18" charset="0"/>
              </a:rPr>
              <a:t>).</a:t>
            </a:r>
          </a:p>
          <a:p>
            <a:pPr>
              <a:lnSpc>
                <a:spcPct val="9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Strength</a:t>
            </a:r>
            <a:r>
              <a:rPr lang="en-US" sz="2000" dirty="0">
                <a:latin typeface="Times New Roman" panose="02020603050405020304" pitchFamily="18" charset="0"/>
                <a:cs typeface="Times New Roman" panose="02020603050405020304" pitchFamily="18" charset="0"/>
              </a:rPr>
              <a:t>: Highly interpretable, sparse, quick.</a:t>
            </a:r>
          </a:p>
          <a:p>
            <a:pPr>
              <a:lnSpc>
                <a:spcPct val="9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Limitation</a:t>
            </a:r>
            <a:r>
              <a:rPr lang="en-US" sz="2000" dirty="0">
                <a:latin typeface="Times New Roman" panose="02020603050405020304" pitchFamily="18" charset="0"/>
                <a:cs typeface="Times New Roman" panose="02020603050405020304" pitchFamily="18" charset="0"/>
              </a:rPr>
              <a:t>: Ignores nonlinear effects and team synergy.</a:t>
            </a:r>
          </a:p>
          <a:p>
            <a:pPr>
              <a:lnSpc>
                <a:spcPct val="9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Best Use</a:t>
            </a:r>
            <a:r>
              <a:rPr lang="en-US" sz="2000" dirty="0">
                <a:latin typeface="Times New Roman" panose="02020603050405020304" pitchFamily="18" charset="0"/>
                <a:cs typeface="Times New Roman" panose="02020603050405020304" pitchFamily="18" charset="0"/>
              </a:rPr>
              <a:t>: Scouting reports, lineup selection, quick evaluations.</a:t>
            </a:r>
          </a:p>
        </p:txBody>
      </p:sp>
      <p:sp>
        <p:nvSpPr>
          <p:cNvPr id="6" name="Slide Number Placeholder 5">
            <a:extLst>
              <a:ext uri="{FF2B5EF4-FFF2-40B4-BE49-F238E27FC236}">
                <a16:creationId xmlns:a16="http://schemas.microsoft.com/office/drawing/2014/main" id="{E1603C21-6661-F7F2-2FE5-AB11FFB004B4}"/>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15</a:t>
            </a:fld>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4442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78346D-3932-0496-C866-2ADDA937571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944EF4-ED50-3995-24AF-575653AAAE37}"/>
              </a:ext>
            </a:extLst>
          </p:cNvPr>
          <p:cNvSpPr>
            <a:spLocks noGrp="1"/>
          </p:cNvSpPr>
          <p:nvPr>
            <p:ph type="title"/>
          </p:nvPr>
        </p:nvSpPr>
        <p:spPr>
          <a:xfrm>
            <a:off x="2712720" y="-563668"/>
            <a:ext cx="5098906" cy="1675623"/>
          </a:xfrm>
        </p:spPr>
        <p:txBody>
          <a:bodyPr anchor="b">
            <a:normAutofit/>
          </a:bodyPr>
          <a:lstStyle/>
          <a:p>
            <a:r>
              <a:rPr lang="en-US" sz="4000" dirty="0">
                <a:latin typeface="Times New Roman" panose="02020603050405020304" pitchFamily="18" charset="0"/>
                <a:cs typeface="Times New Roman" panose="02020603050405020304" pitchFamily="18" charset="0"/>
              </a:rPr>
              <a:t>Player</a:t>
            </a:r>
            <a:r>
              <a:rPr lang="en-US" sz="3500" dirty="0"/>
              <a:t> Impact </a:t>
            </a:r>
            <a:r>
              <a:rPr lang="en-US" sz="4000" dirty="0">
                <a:latin typeface="Times New Roman" panose="02020603050405020304" pitchFamily="18" charset="0"/>
                <a:cs typeface="Times New Roman" panose="02020603050405020304" pitchFamily="18" charset="0"/>
              </a:rPr>
              <a:t>Insight</a:t>
            </a:r>
          </a:p>
        </p:txBody>
      </p:sp>
      <p:pic>
        <p:nvPicPr>
          <p:cNvPr id="5" name="Picture 4" descr="A person jumping in the air with a basketball&#10;&#10;AI-generated content may be incorrect.">
            <a:extLst>
              <a:ext uri="{FF2B5EF4-FFF2-40B4-BE49-F238E27FC236}">
                <a16:creationId xmlns:a16="http://schemas.microsoft.com/office/drawing/2014/main" id="{E150004A-A533-C04F-7FED-F2446EC6AB9B}"/>
              </a:ext>
            </a:extLst>
          </p:cNvPr>
          <p:cNvPicPr>
            <a:picLocks noChangeAspect="1"/>
          </p:cNvPicPr>
          <p:nvPr/>
        </p:nvPicPr>
        <p:blipFill>
          <a:blip r:embed="rId2"/>
          <a:srcRect l="17112" r="14134"/>
          <a:stretch>
            <a:fillRect/>
          </a:stretch>
        </p:blipFill>
        <p:spPr>
          <a:xfrm>
            <a:off x="20" y="10"/>
            <a:ext cx="3147352" cy="6857990"/>
          </a:xfrm>
          <a:prstGeom prst="rect">
            <a:avLst/>
          </a:prstGeom>
          <a:effectLst/>
        </p:spPr>
      </p:pic>
      <p:sp>
        <p:nvSpPr>
          <p:cNvPr id="3" name="Content Placeholder 2">
            <a:extLst>
              <a:ext uri="{FF2B5EF4-FFF2-40B4-BE49-F238E27FC236}">
                <a16:creationId xmlns:a16="http://schemas.microsoft.com/office/drawing/2014/main" id="{F9D4088E-B96E-296A-AEB9-A4DC99F8ADFD}"/>
              </a:ext>
            </a:extLst>
          </p:cNvPr>
          <p:cNvSpPr>
            <a:spLocks noGrp="1"/>
          </p:cNvSpPr>
          <p:nvPr>
            <p:ph idx="1"/>
          </p:nvPr>
        </p:nvSpPr>
        <p:spPr>
          <a:xfrm>
            <a:off x="2712720" y="1340344"/>
            <a:ext cx="6568440" cy="4439424"/>
          </a:xfrm>
        </p:spPr>
        <p:txBody>
          <a:bodyPr>
            <a:noAutofit/>
          </a:bodyPr>
          <a:lstStyle/>
          <a:p>
            <a:pPr marL="0" indent="0">
              <a:lnSpc>
                <a:spcPct val="90000"/>
              </a:lnSpc>
              <a:buNone/>
            </a:pPr>
            <a:r>
              <a:rPr lang="en-US" sz="2400" b="1" dirty="0" err="1">
                <a:latin typeface="Times New Roman" panose="02020603050405020304" pitchFamily="18" charset="0"/>
                <a:cs typeface="Times New Roman" panose="02020603050405020304" pitchFamily="18" charset="0"/>
              </a:rPr>
              <a:t>XGBoost</a:t>
            </a:r>
            <a:r>
              <a:rPr lang="en-US" sz="2400" b="1" dirty="0">
                <a:latin typeface="Times New Roman" panose="02020603050405020304" pitchFamily="18" charset="0"/>
                <a:cs typeface="Times New Roman" panose="02020603050405020304" pitchFamily="18" charset="0"/>
              </a:rPr>
              <a:t> Classifier – Player Impact</a:t>
            </a:r>
          </a:p>
          <a:p>
            <a:pPr>
              <a:lnSpc>
                <a:spcPct val="9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Synergy &amp; Context Captured</a:t>
            </a:r>
            <a:r>
              <a:rPr lang="en-US" sz="2400" dirty="0">
                <a:latin typeface="Times New Roman" panose="02020603050405020304" pitchFamily="18" charset="0"/>
                <a:cs typeface="Times New Roman" panose="02020603050405020304" pitchFamily="18" charset="0"/>
              </a:rPr>
              <a:t>: Player impact varied depending on teammates, score differential, or clutch moments.</a:t>
            </a:r>
          </a:p>
          <a:p>
            <a:pPr>
              <a:lnSpc>
                <a:spcPct val="9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Strengths</a:t>
            </a:r>
            <a:r>
              <a:rPr lang="en-US" sz="2400" dirty="0">
                <a:latin typeface="Times New Roman" panose="02020603050405020304" pitchFamily="18" charset="0"/>
                <a:cs typeface="Times New Roman" panose="02020603050405020304" pitchFamily="18" charset="0"/>
              </a:rPr>
              <a:t>:</a:t>
            </a:r>
          </a:p>
          <a:p>
            <a:pPr marL="742950" lvl="1" indent="-285750">
              <a:lnSpc>
                <a:spcPct val="9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+5% better F1-score than LASSO.</a:t>
            </a:r>
          </a:p>
          <a:p>
            <a:pPr marL="742950" lvl="1" indent="-285750">
              <a:lnSpc>
                <a:spcPct val="9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Captures nonlinear interactions.</a:t>
            </a:r>
          </a:p>
          <a:p>
            <a:pPr marL="742950" lvl="1" indent="-285750">
              <a:lnSpc>
                <a:spcPct val="9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SHAP values allow interpretability at both player and team level.</a:t>
            </a:r>
          </a:p>
          <a:p>
            <a:pPr>
              <a:lnSpc>
                <a:spcPct val="9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Limitations</a:t>
            </a:r>
            <a:r>
              <a:rPr lang="en-US" sz="2400" dirty="0">
                <a:latin typeface="Times New Roman" panose="02020603050405020304" pitchFamily="18" charset="0"/>
                <a:cs typeface="Times New Roman" panose="02020603050405020304" pitchFamily="18" charset="0"/>
              </a:rPr>
              <a:t>: Less transparent than LASSO, needs careful tuning, heavier computational cost.</a:t>
            </a:r>
          </a:p>
          <a:p>
            <a:pPr>
              <a:lnSpc>
                <a:spcPct val="9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Best Use</a:t>
            </a:r>
            <a:r>
              <a:rPr lang="en-US" sz="2400" dirty="0">
                <a:latin typeface="Times New Roman" panose="02020603050405020304" pitchFamily="18" charset="0"/>
                <a:cs typeface="Times New Roman" panose="02020603050405020304" pitchFamily="18" charset="0"/>
              </a:rPr>
              <a:t>: Richer impact estimation for performance optimization.</a:t>
            </a:r>
          </a:p>
        </p:txBody>
      </p:sp>
      <p:sp>
        <p:nvSpPr>
          <p:cNvPr id="6" name="Slide Number Placeholder 5">
            <a:extLst>
              <a:ext uri="{FF2B5EF4-FFF2-40B4-BE49-F238E27FC236}">
                <a16:creationId xmlns:a16="http://schemas.microsoft.com/office/drawing/2014/main" id="{11A085B2-7D91-A4B7-2C5D-A27D498364DF}"/>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16</a:t>
            </a:fld>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2987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825B-0AE6-D5BF-AF8A-0F253BC35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6BE7B1-C400-B141-E5FC-1EB117EB87A8}"/>
              </a:ext>
            </a:extLst>
          </p:cNvPr>
          <p:cNvSpPr>
            <a:spLocks noGrp="1"/>
          </p:cNvSpPr>
          <p:nvPr>
            <p:ph type="title"/>
          </p:nvPr>
        </p:nvSpPr>
        <p:spPr/>
        <p:txBody>
          <a:bodyPr/>
          <a:lstStyle/>
          <a:p>
            <a:r>
              <a:t>Results Summary</a:t>
            </a:r>
          </a:p>
        </p:txBody>
      </p:sp>
      <p:pic>
        <p:nvPicPr>
          <p:cNvPr id="3" name="Picture 2" descr="A graph of a number of blue bars&#10;&#10;Description automatically generated with medium confidence">
            <a:extLst>
              <a:ext uri="{FF2B5EF4-FFF2-40B4-BE49-F238E27FC236}">
                <a16:creationId xmlns:a16="http://schemas.microsoft.com/office/drawing/2014/main" id="{3993AB5E-2C8C-D7A8-1717-0350987BB3FB}"/>
              </a:ext>
            </a:extLst>
          </p:cNvPr>
          <p:cNvPicPr>
            <a:picLocks noChangeAspect="1"/>
          </p:cNvPicPr>
          <p:nvPr/>
        </p:nvPicPr>
        <p:blipFill>
          <a:blip r:embed="rId2"/>
          <a:stretch>
            <a:fillRect/>
          </a:stretch>
        </p:blipFill>
        <p:spPr>
          <a:xfrm>
            <a:off x="962748" y="1946592"/>
            <a:ext cx="7218503" cy="3600768"/>
          </a:xfrm>
          <a:prstGeom prst="rect">
            <a:avLst/>
          </a:prstGeom>
        </p:spPr>
      </p:pic>
      <p:sp>
        <p:nvSpPr>
          <p:cNvPr id="4" name="Slide Number Placeholder 3">
            <a:extLst>
              <a:ext uri="{FF2B5EF4-FFF2-40B4-BE49-F238E27FC236}">
                <a16:creationId xmlns:a16="http://schemas.microsoft.com/office/drawing/2014/main" id="{E6A53FBF-ABAD-B840-E1B6-DFD9BE37CD21}"/>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17</a:t>
            </a:fld>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933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BD1DB-7152-5056-EAE3-94B621E34E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04523A-5A1B-276C-7BF4-58F3F389F054}"/>
              </a:ext>
            </a:extLst>
          </p:cNvPr>
          <p:cNvSpPr>
            <a:spLocks noGrp="1"/>
          </p:cNvSpPr>
          <p:nvPr>
            <p:ph type="title"/>
          </p:nvPr>
        </p:nvSpPr>
        <p:spPr/>
        <p:txBody>
          <a:bodyPr/>
          <a:lstStyle/>
          <a:p>
            <a:r>
              <a:t>Results Summary</a:t>
            </a:r>
          </a:p>
        </p:txBody>
      </p:sp>
      <p:pic>
        <p:nvPicPr>
          <p:cNvPr id="4" name="Picture 3" descr="A graph of a bar graph&#10;&#10;Description automatically generated with medium confidence">
            <a:extLst>
              <a:ext uri="{FF2B5EF4-FFF2-40B4-BE49-F238E27FC236}">
                <a16:creationId xmlns:a16="http://schemas.microsoft.com/office/drawing/2014/main" id="{41124A24-1E96-3C8F-1189-7262BA28703E}"/>
              </a:ext>
            </a:extLst>
          </p:cNvPr>
          <p:cNvPicPr>
            <a:picLocks noChangeAspect="1"/>
          </p:cNvPicPr>
          <p:nvPr/>
        </p:nvPicPr>
        <p:blipFill rotWithShape="1">
          <a:blip r:embed="rId2"/>
          <a:srcRect t="837"/>
          <a:stretch/>
        </p:blipFill>
        <p:spPr bwMode="auto">
          <a:xfrm>
            <a:off x="978351" y="1923732"/>
            <a:ext cx="7187297" cy="3640489"/>
          </a:xfrm>
          <a:prstGeom prst="rect">
            <a:avLst/>
          </a:prstGeom>
          <a:ln>
            <a:noFill/>
          </a:ln>
          <a:extLst>
            <a:ext uri="{53640926-AAD7-44D8-BBD7-CCE9431645EC}">
              <a14:shadowObscured xmlns:a14="http://schemas.microsoft.com/office/drawing/2010/main"/>
            </a:ext>
          </a:extLst>
        </p:spPr>
      </p:pic>
      <p:sp>
        <p:nvSpPr>
          <p:cNvPr id="3" name="Slide Number Placeholder 2">
            <a:extLst>
              <a:ext uri="{FF2B5EF4-FFF2-40B4-BE49-F238E27FC236}">
                <a16:creationId xmlns:a16="http://schemas.microsoft.com/office/drawing/2014/main" id="{CEE223FB-5D0D-E34E-AF4E-C49CA93A8B4C}"/>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18</a:t>
            </a:fld>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942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AF29DE-30A7-C755-D4C5-133B876ADD2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C477752-ACCA-41C1-9B1D-D0CED1F9CB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FC087F-F1E4-8F54-5AAB-2A907CA3CAE0}"/>
              </a:ext>
            </a:extLst>
          </p:cNvPr>
          <p:cNvSpPr>
            <a:spLocks noGrp="1"/>
          </p:cNvSpPr>
          <p:nvPr>
            <p:ph type="title"/>
          </p:nvPr>
        </p:nvSpPr>
        <p:spPr>
          <a:xfrm>
            <a:off x="628650" y="347664"/>
            <a:ext cx="7844790" cy="1306475"/>
          </a:xfrm>
        </p:spPr>
        <p:txBody>
          <a:bodyPr vert="horz" lIns="91440" tIns="45720" rIns="91440" bIns="45720" rtlCol="0" anchor="ctr">
            <a:normAutofit/>
          </a:bodyPr>
          <a:lstStyle/>
          <a:p>
            <a:pPr defTabSz="914400">
              <a:lnSpc>
                <a:spcPct val="90000"/>
              </a:lnSpc>
            </a:pPr>
            <a:r>
              <a:rPr lang="en-US" sz="4200" kern="1200">
                <a:solidFill>
                  <a:schemeClr val="tx1"/>
                </a:solidFill>
                <a:latin typeface="+mj-lt"/>
                <a:ea typeface="+mj-ea"/>
                <a:cs typeface="+mj-cs"/>
              </a:rPr>
              <a:t>Player Impact Insight</a:t>
            </a:r>
          </a:p>
        </p:txBody>
      </p:sp>
      <p:pic>
        <p:nvPicPr>
          <p:cNvPr id="4" name="Content Placeholder 3" descr="A graph of blue and orange bars&#10;&#10;Description automatically generated">
            <a:extLst>
              <a:ext uri="{FF2B5EF4-FFF2-40B4-BE49-F238E27FC236}">
                <a16:creationId xmlns:a16="http://schemas.microsoft.com/office/drawing/2014/main" id="{2F042B60-1D83-B655-8B19-C4EB81C344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846752" y="1845426"/>
            <a:ext cx="7448206" cy="4450303"/>
          </a:xfrm>
          <a:prstGeom prst="rect">
            <a:avLst/>
          </a:prstGeom>
          <a:noFill/>
        </p:spPr>
      </p:pic>
      <p:sp>
        <p:nvSpPr>
          <p:cNvPr id="3" name="Slide Number Placeholder 2">
            <a:extLst>
              <a:ext uri="{FF2B5EF4-FFF2-40B4-BE49-F238E27FC236}">
                <a16:creationId xmlns:a16="http://schemas.microsoft.com/office/drawing/2014/main" id="{13378CCB-CA27-A939-8FD6-72C15C28F88B}"/>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19</a:t>
            </a:fld>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0618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Results</a:t>
            </a:r>
            <a:r>
              <a:rPr dirty="0"/>
              <a:t> Summary</a:t>
            </a:r>
          </a:p>
        </p:txBody>
      </p:sp>
      <p:graphicFrame>
        <p:nvGraphicFramePr>
          <p:cNvPr id="4" name="Table 3">
            <a:extLst>
              <a:ext uri="{FF2B5EF4-FFF2-40B4-BE49-F238E27FC236}">
                <a16:creationId xmlns:a16="http://schemas.microsoft.com/office/drawing/2014/main" id="{FDBB2B1D-917E-9047-FB1A-C7A66909D239}"/>
              </a:ext>
            </a:extLst>
          </p:cNvPr>
          <p:cNvGraphicFramePr>
            <a:graphicFrameLocks noGrp="1"/>
          </p:cNvGraphicFramePr>
          <p:nvPr>
            <p:extLst>
              <p:ext uri="{D42A27DB-BD31-4B8C-83A1-F6EECF244321}">
                <p14:modId xmlns:p14="http://schemas.microsoft.com/office/powerpoint/2010/main" val="70604263"/>
              </p:ext>
            </p:extLst>
          </p:nvPr>
        </p:nvGraphicFramePr>
        <p:xfrm>
          <a:off x="457200" y="1708244"/>
          <a:ext cx="8229600" cy="2854872"/>
        </p:xfrm>
        <a:graphic>
          <a:graphicData uri="http://schemas.openxmlformats.org/drawingml/2006/table">
            <a:tbl>
              <a:tblPr/>
              <a:tblGrid>
                <a:gridCol w="1645920">
                  <a:extLst>
                    <a:ext uri="{9D8B030D-6E8A-4147-A177-3AD203B41FA5}">
                      <a16:colId xmlns:a16="http://schemas.microsoft.com/office/drawing/2014/main" val="3677460720"/>
                    </a:ext>
                  </a:extLst>
                </a:gridCol>
                <a:gridCol w="1645920">
                  <a:extLst>
                    <a:ext uri="{9D8B030D-6E8A-4147-A177-3AD203B41FA5}">
                      <a16:colId xmlns:a16="http://schemas.microsoft.com/office/drawing/2014/main" val="1801133810"/>
                    </a:ext>
                  </a:extLst>
                </a:gridCol>
                <a:gridCol w="1645920">
                  <a:extLst>
                    <a:ext uri="{9D8B030D-6E8A-4147-A177-3AD203B41FA5}">
                      <a16:colId xmlns:a16="http://schemas.microsoft.com/office/drawing/2014/main" val="608700840"/>
                    </a:ext>
                  </a:extLst>
                </a:gridCol>
                <a:gridCol w="1645920">
                  <a:extLst>
                    <a:ext uri="{9D8B030D-6E8A-4147-A177-3AD203B41FA5}">
                      <a16:colId xmlns:a16="http://schemas.microsoft.com/office/drawing/2014/main" val="4023814611"/>
                    </a:ext>
                  </a:extLst>
                </a:gridCol>
                <a:gridCol w="1645920">
                  <a:extLst>
                    <a:ext uri="{9D8B030D-6E8A-4147-A177-3AD203B41FA5}">
                      <a16:colId xmlns:a16="http://schemas.microsoft.com/office/drawing/2014/main" val="1057228223"/>
                    </a:ext>
                  </a:extLst>
                </a:gridCol>
              </a:tblGrid>
              <a:tr h="410896">
                <a:tc>
                  <a:txBody>
                    <a:bodyPr/>
                    <a:lstStyle/>
                    <a:p>
                      <a:r>
                        <a:rPr lang="en-US" sz="2000" dirty="0">
                          <a:latin typeface="Times New Roman" panose="02020603050405020304" pitchFamily="18" charset="0"/>
                          <a:cs typeface="Times New Roman" panose="02020603050405020304" pitchFamily="18" charset="0"/>
                        </a:rPr>
                        <a:t>Model</a:t>
                      </a:r>
                    </a:p>
                  </a:txBody>
                  <a:tcPr anchor="ctr">
                    <a:lnL>
                      <a:noFill/>
                    </a:lnL>
                    <a:lnR>
                      <a:noFill/>
                    </a:lnR>
                    <a:lnT>
                      <a:noFill/>
                    </a:lnT>
                    <a:lnB>
                      <a:noFill/>
                    </a:lnB>
                    <a:noFill/>
                  </a:tcPr>
                </a:tc>
                <a:tc>
                  <a:txBody>
                    <a:bodyPr/>
                    <a:lstStyle/>
                    <a:p>
                      <a:r>
                        <a:rPr lang="en-US" sz="2000">
                          <a:latin typeface="Times New Roman" panose="02020603050405020304" pitchFamily="18" charset="0"/>
                          <a:cs typeface="Times New Roman" panose="02020603050405020304" pitchFamily="18" charset="0"/>
                        </a:rPr>
                        <a:t>Accuracy</a:t>
                      </a:r>
                    </a:p>
                  </a:txBody>
                  <a:tcPr anchor="ctr">
                    <a:lnL>
                      <a:noFill/>
                    </a:lnL>
                    <a:lnR>
                      <a:noFill/>
                    </a:lnR>
                    <a:lnT>
                      <a:noFill/>
                    </a:lnT>
                    <a:lnB>
                      <a:noFill/>
                    </a:lnB>
                    <a:noFill/>
                  </a:tcPr>
                </a:tc>
                <a:tc>
                  <a:txBody>
                    <a:bodyPr/>
                    <a:lstStyle/>
                    <a:p>
                      <a:r>
                        <a:rPr lang="en-US" sz="2000" dirty="0">
                          <a:latin typeface="Times New Roman" panose="02020603050405020304" pitchFamily="18" charset="0"/>
                          <a:cs typeface="Times New Roman" panose="02020603050405020304" pitchFamily="18" charset="0"/>
                        </a:rPr>
                        <a:t>Precision</a:t>
                      </a:r>
                    </a:p>
                  </a:txBody>
                  <a:tcPr anchor="ctr">
                    <a:lnL>
                      <a:noFill/>
                    </a:lnL>
                    <a:lnR>
                      <a:noFill/>
                    </a:lnR>
                    <a:lnT>
                      <a:noFill/>
                    </a:lnT>
                    <a:lnB>
                      <a:noFill/>
                    </a:lnB>
                    <a:noFill/>
                  </a:tcPr>
                </a:tc>
                <a:tc>
                  <a:txBody>
                    <a:bodyPr/>
                    <a:lstStyle/>
                    <a:p>
                      <a:r>
                        <a:rPr lang="en-US" sz="2000">
                          <a:latin typeface="Times New Roman" panose="02020603050405020304" pitchFamily="18" charset="0"/>
                          <a:cs typeface="Times New Roman" panose="02020603050405020304" pitchFamily="18" charset="0"/>
                        </a:rPr>
                        <a:t>Recall</a:t>
                      </a:r>
                    </a:p>
                  </a:txBody>
                  <a:tcPr anchor="ctr">
                    <a:lnL>
                      <a:noFill/>
                    </a:lnL>
                    <a:lnR>
                      <a:noFill/>
                    </a:lnR>
                    <a:lnT>
                      <a:noFill/>
                    </a:lnT>
                    <a:lnB>
                      <a:noFill/>
                    </a:lnB>
                    <a:noFill/>
                  </a:tcPr>
                </a:tc>
                <a:tc>
                  <a:txBody>
                    <a:bodyPr/>
                    <a:lstStyle/>
                    <a:p>
                      <a:r>
                        <a:rPr lang="en-US" sz="2000">
                          <a:latin typeface="Times New Roman" panose="02020603050405020304" pitchFamily="18" charset="0"/>
                          <a:cs typeface="Times New Roman" panose="02020603050405020304" pitchFamily="18" charset="0"/>
                        </a:rPr>
                        <a:t>F1-Score</a:t>
                      </a:r>
                    </a:p>
                  </a:txBody>
                  <a:tcPr anchor="ctr">
                    <a:lnL>
                      <a:noFill/>
                    </a:lnL>
                    <a:lnR>
                      <a:noFill/>
                    </a:lnR>
                    <a:lnT>
                      <a:noFill/>
                    </a:lnT>
                    <a:lnB>
                      <a:noFill/>
                    </a:lnB>
                    <a:noFill/>
                  </a:tcPr>
                </a:tc>
                <a:extLst>
                  <a:ext uri="{0D108BD9-81ED-4DB2-BD59-A6C34878D82A}">
                    <a16:rowId xmlns:a16="http://schemas.microsoft.com/office/drawing/2014/main" val="3394406085"/>
                  </a:ext>
                </a:extLst>
              </a:tr>
              <a:tr h="719068">
                <a:tc>
                  <a:txBody>
                    <a:bodyPr/>
                    <a:lstStyle/>
                    <a:p>
                      <a:r>
                        <a:rPr lang="en-US" sz="2000" b="1" dirty="0">
                          <a:latin typeface="Times New Roman" panose="02020603050405020304" pitchFamily="18" charset="0"/>
                          <a:cs typeface="Times New Roman" panose="02020603050405020304" pitchFamily="18" charset="0"/>
                        </a:rPr>
                        <a:t>LASSO Logistic Regression</a:t>
                      </a:r>
                      <a:endParaRPr lang="en-US" sz="20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sz="2000">
                          <a:latin typeface="Times New Roman" panose="02020603050405020304" pitchFamily="18" charset="0"/>
                          <a:cs typeface="Times New Roman" panose="02020603050405020304" pitchFamily="18" charset="0"/>
                        </a:rPr>
                        <a:t>65.76%</a:t>
                      </a:r>
                    </a:p>
                  </a:txBody>
                  <a:tcPr anchor="ctr">
                    <a:lnL>
                      <a:noFill/>
                    </a:lnL>
                    <a:lnR>
                      <a:noFill/>
                    </a:lnR>
                    <a:lnT>
                      <a:noFill/>
                    </a:lnT>
                    <a:lnB>
                      <a:noFill/>
                    </a:lnB>
                    <a:noFill/>
                  </a:tcPr>
                </a:tc>
                <a:tc>
                  <a:txBody>
                    <a:bodyPr/>
                    <a:lstStyle/>
                    <a:p>
                      <a:r>
                        <a:rPr lang="en-US" sz="2000">
                          <a:latin typeface="Times New Roman" panose="02020603050405020304" pitchFamily="18" charset="0"/>
                          <a:cs typeface="Times New Roman" panose="02020603050405020304" pitchFamily="18" charset="0"/>
                        </a:rPr>
                        <a:t>63.76%</a:t>
                      </a:r>
                    </a:p>
                  </a:txBody>
                  <a:tcPr anchor="ctr">
                    <a:lnL>
                      <a:noFill/>
                    </a:lnL>
                    <a:lnR>
                      <a:noFill/>
                    </a:lnR>
                    <a:lnT>
                      <a:noFill/>
                    </a:lnT>
                    <a:lnB>
                      <a:noFill/>
                    </a:lnB>
                    <a:noFill/>
                  </a:tcPr>
                </a:tc>
                <a:tc>
                  <a:txBody>
                    <a:bodyPr/>
                    <a:lstStyle/>
                    <a:p>
                      <a:r>
                        <a:rPr lang="en-US" sz="2000">
                          <a:latin typeface="Times New Roman" panose="02020603050405020304" pitchFamily="18" charset="0"/>
                          <a:cs typeface="Times New Roman" panose="02020603050405020304" pitchFamily="18" charset="0"/>
                        </a:rPr>
                        <a:t>64.07%</a:t>
                      </a:r>
                    </a:p>
                  </a:txBody>
                  <a:tcPr anchor="ctr">
                    <a:lnL>
                      <a:noFill/>
                    </a:lnL>
                    <a:lnR>
                      <a:noFill/>
                    </a:lnR>
                    <a:lnT>
                      <a:noFill/>
                    </a:lnT>
                    <a:lnB>
                      <a:noFill/>
                    </a:lnB>
                    <a:noFill/>
                  </a:tcPr>
                </a:tc>
                <a:tc>
                  <a:txBody>
                    <a:bodyPr/>
                    <a:lstStyle/>
                    <a:p>
                      <a:r>
                        <a:rPr lang="en-US" sz="2000">
                          <a:latin typeface="Times New Roman" panose="02020603050405020304" pitchFamily="18" charset="0"/>
                          <a:cs typeface="Times New Roman" panose="02020603050405020304" pitchFamily="18" charset="0"/>
                        </a:rPr>
                        <a:t>63.91%</a:t>
                      </a:r>
                    </a:p>
                  </a:txBody>
                  <a:tcPr anchor="ctr">
                    <a:lnL>
                      <a:noFill/>
                    </a:lnL>
                    <a:lnR>
                      <a:noFill/>
                    </a:lnR>
                    <a:lnT>
                      <a:noFill/>
                    </a:lnT>
                    <a:lnB>
                      <a:noFill/>
                    </a:lnB>
                    <a:noFill/>
                  </a:tcPr>
                </a:tc>
                <a:extLst>
                  <a:ext uri="{0D108BD9-81ED-4DB2-BD59-A6C34878D82A}">
                    <a16:rowId xmlns:a16="http://schemas.microsoft.com/office/drawing/2014/main" val="3866741621"/>
                  </a:ext>
                </a:extLst>
              </a:tr>
              <a:tr h="410896">
                <a:tc>
                  <a:txBody>
                    <a:bodyPr/>
                    <a:lstStyle/>
                    <a:p>
                      <a:r>
                        <a:rPr lang="en-US" sz="2000" b="1">
                          <a:latin typeface="Times New Roman" panose="02020603050405020304" pitchFamily="18" charset="0"/>
                          <a:cs typeface="Times New Roman" panose="02020603050405020304" pitchFamily="18" charset="0"/>
                        </a:rPr>
                        <a:t>XGBoost</a:t>
                      </a:r>
                      <a:endParaRPr lang="en-US"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sz="2000">
                          <a:latin typeface="Times New Roman" panose="02020603050405020304" pitchFamily="18" charset="0"/>
                          <a:cs typeface="Times New Roman" panose="02020603050405020304" pitchFamily="18" charset="0"/>
                        </a:rPr>
                        <a:t>69.84%</a:t>
                      </a:r>
                    </a:p>
                  </a:txBody>
                  <a:tcPr anchor="ctr">
                    <a:lnL>
                      <a:noFill/>
                    </a:lnL>
                    <a:lnR>
                      <a:noFill/>
                    </a:lnR>
                    <a:lnT>
                      <a:noFill/>
                    </a:lnT>
                    <a:lnB>
                      <a:noFill/>
                    </a:lnB>
                    <a:noFill/>
                  </a:tcPr>
                </a:tc>
                <a:tc>
                  <a:txBody>
                    <a:bodyPr/>
                    <a:lstStyle/>
                    <a:p>
                      <a:r>
                        <a:rPr lang="en-US" sz="2000">
                          <a:latin typeface="Times New Roman" panose="02020603050405020304" pitchFamily="18" charset="0"/>
                          <a:cs typeface="Times New Roman" panose="02020603050405020304" pitchFamily="18" charset="0"/>
                        </a:rPr>
                        <a:t>68.92%</a:t>
                      </a:r>
                    </a:p>
                  </a:txBody>
                  <a:tcPr anchor="ctr">
                    <a:lnL>
                      <a:noFill/>
                    </a:lnL>
                    <a:lnR>
                      <a:noFill/>
                    </a:lnR>
                    <a:lnT>
                      <a:noFill/>
                    </a:lnT>
                    <a:lnB>
                      <a:noFill/>
                    </a:lnB>
                    <a:noFill/>
                  </a:tcPr>
                </a:tc>
                <a:tc>
                  <a:txBody>
                    <a:bodyPr/>
                    <a:lstStyle/>
                    <a:p>
                      <a:r>
                        <a:rPr lang="en-US" sz="2000">
                          <a:latin typeface="Times New Roman" panose="02020603050405020304" pitchFamily="18" charset="0"/>
                          <a:cs typeface="Times New Roman" panose="02020603050405020304" pitchFamily="18" charset="0"/>
                        </a:rPr>
                        <a:t>69.30%</a:t>
                      </a:r>
                    </a:p>
                  </a:txBody>
                  <a:tcPr anchor="ctr">
                    <a:lnL>
                      <a:noFill/>
                    </a:lnL>
                    <a:lnR>
                      <a:noFill/>
                    </a:lnR>
                    <a:lnT>
                      <a:noFill/>
                    </a:lnT>
                    <a:lnB>
                      <a:noFill/>
                    </a:lnB>
                    <a:noFill/>
                  </a:tcPr>
                </a:tc>
                <a:tc>
                  <a:txBody>
                    <a:bodyPr/>
                    <a:lstStyle/>
                    <a:p>
                      <a:r>
                        <a:rPr lang="en-US" sz="2000">
                          <a:latin typeface="Times New Roman" panose="02020603050405020304" pitchFamily="18" charset="0"/>
                          <a:cs typeface="Times New Roman" panose="02020603050405020304" pitchFamily="18" charset="0"/>
                        </a:rPr>
                        <a:t>69.11%</a:t>
                      </a:r>
                    </a:p>
                  </a:txBody>
                  <a:tcPr anchor="ctr">
                    <a:lnL>
                      <a:noFill/>
                    </a:lnL>
                    <a:lnR>
                      <a:noFill/>
                    </a:lnR>
                    <a:lnT>
                      <a:noFill/>
                    </a:lnT>
                    <a:lnB>
                      <a:noFill/>
                    </a:lnB>
                    <a:noFill/>
                  </a:tcPr>
                </a:tc>
                <a:extLst>
                  <a:ext uri="{0D108BD9-81ED-4DB2-BD59-A6C34878D82A}">
                    <a16:rowId xmlns:a16="http://schemas.microsoft.com/office/drawing/2014/main" val="1188317372"/>
                  </a:ext>
                </a:extLst>
              </a:tr>
              <a:tr h="1027240">
                <a:tc>
                  <a:txBody>
                    <a:bodyPr/>
                    <a:lstStyle/>
                    <a:p>
                      <a:r>
                        <a:rPr lang="en-US" sz="2000" b="1">
                          <a:latin typeface="Times New Roman" panose="02020603050405020304" pitchFamily="18" charset="0"/>
                          <a:cs typeface="Times New Roman" panose="02020603050405020304" pitchFamily="18" charset="0"/>
                        </a:rPr>
                        <a:t>Random Forest (Momentum)</a:t>
                      </a:r>
                      <a:endParaRPr lang="en-US"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sz="2000">
                          <a:latin typeface="Times New Roman" panose="02020603050405020304" pitchFamily="18" charset="0"/>
                          <a:cs typeface="Times New Roman" panose="02020603050405020304" pitchFamily="18" charset="0"/>
                        </a:rPr>
                        <a:t>74.59%</a:t>
                      </a:r>
                    </a:p>
                  </a:txBody>
                  <a:tcPr anchor="ctr">
                    <a:lnL>
                      <a:noFill/>
                    </a:lnL>
                    <a:lnR>
                      <a:noFill/>
                    </a:lnR>
                    <a:lnT>
                      <a:noFill/>
                    </a:lnT>
                    <a:lnB>
                      <a:noFill/>
                    </a:lnB>
                    <a:noFill/>
                  </a:tcPr>
                </a:tc>
                <a:tc>
                  <a:txBody>
                    <a:bodyPr/>
                    <a:lstStyle/>
                    <a:p>
                      <a:r>
                        <a:rPr lang="en-US" sz="2000">
                          <a:latin typeface="Times New Roman" panose="02020603050405020304" pitchFamily="18" charset="0"/>
                          <a:cs typeface="Times New Roman" panose="02020603050405020304" pitchFamily="18" charset="0"/>
                        </a:rPr>
                        <a:t>75.80%</a:t>
                      </a:r>
                    </a:p>
                  </a:txBody>
                  <a:tcPr anchor="ctr">
                    <a:lnL>
                      <a:noFill/>
                    </a:lnL>
                    <a:lnR>
                      <a:noFill/>
                    </a:lnR>
                    <a:lnT>
                      <a:noFill/>
                    </a:lnT>
                    <a:lnB>
                      <a:noFill/>
                    </a:lnB>
                    <a:noFill/>
                  </a:tcPr>
                </a:tc>
                <a:tc>
                  <a:txBody>
                    <a:bodyPr/>
                    <a:lstStyle/>
                    <a:p>
                      <a:r>
                        <a:rPr lang="en-US" sz="2000">
                          <a:latin typeface="Times New Roman" panose="02020603050405020304" pitchFamily="18" charset="0"/>
                          <a:cs typeface="Times New Roman" panose="02020603050405020304" pitchFamily="18" charset="0"/>
                        </a:rPr>
                        <a:t>74.59%</a:t>
                      </a:r>
                    </a:p>
                  </a:txBody>
                  <a:tcPr anchor="ctr">
                    <a:lnL>
                      <a:noFill/>
                    </a:lnL>
                    <a:lnR>
                      <a:noFill/>
                    </a:lnR>
                    <a:lnT>
                      <a:noFill/>
                    </a:lnT>
                    <a:lnB>
                      <a:noFill/>
                    </a:lnB>
                    <a:noFill/>
                  </a:tcPr>
                </a:tc>
                <a:tc>
                  <a:txBody>
                    <a:bodyPr/>
                    <a:lstStyle/>
                    <a:p>
                      <a:r>
                        <a:rPr lang="en-US" sz="2000" dirty="0">
                          <a:latin typeface="Times New Roman" panose="02020603050405020304" pitchFamily="18" charset="0"/>
                          <a:cs typeface="Times New Roman" panose="02020603050405020304" pitchFamily="18" charset="0"/>
                        </a:rPr>
                        <a:t>73.06%</a:t>
                      </a:r>
                    </a:p>
                  </a:txBody>
                  <a:tcPr anchor="ctr">
                    <a:lnL>
                      <a:noFill/>
                    </a:lnL>
                    <a:lnR>
                      <a:noFill/>
                    </a:lnR>
                    <a:lnT>
                      <a:noFill/>
                    </a:lnT>
                    <a:lnB>
                      <a:noFill/>
                    </a:lnB>
                    <a:noFill/>
                  </a:tcPr>
                </a:tc>
                <a:extLst>
                  <a:ext uri="{0D108BD9-81ED-4DB2-BD59-A6C34878D82A}">
                    <a16:rowId xmlns:a16="http://schemas.microsoft.com/office/drawing/2014/main" val="4170144460"/>
                  </a:ext>
                </a:extLst>
              </a:tr>
            </a:tbl>
          </a:graphicData>
        </a:graphic>
      </p:graphicFrame>
      <p:pic>
        <p:nvPicPr>
          <p:cNvPr id="7" name="Picture 6" descr="A group of hands holding up a word&#10;&#10;AI-generated content may be incorrect.">
            <a:extLst>
              <a:ext uri="{FF2B5EF4-FFF2-40B4-BE49-F238E27FC236}">
                <a16:creationId xmlns:a16="http://schemas.microsoft.com/office/drawing/2014/main" id="{8BE04A11-A820-6072-DA4B-1F8693DC9FD2}"/>
              </a:ext>
            </a:extLst>
          </p:cNvPr>
          <p:cNvPicPr>
            <a:picLocks noChangeAspect="1"/>
          </p:cNvPicPr>
          <p:nvPr/>
        </p:nvPicPr>
        <p:blipFill>
          <a:blip r:embed="rId2"/>
          <a:stretch>
            <a:fillRect/>
          </a:stretch>
        </p:blipFill>
        <p:spPr>
          <a:xfrm>
            <a:off x="5151120" y="4325205"/>
            <a:ext cx="3352800" cy="200748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Slide Number Placeholder 7">
            <a:extLst>
              <a:ext uri="{FF2B5EF4-FFF2-40B4-BE49-F238E27FC236}">
                <a16:creationId xmlns:a16="http://schemas.microsoft.com/office/drawing/2014/main" id="{73717E2E-599F-DF76-FC22-7A08DFF9BF99}"/>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20</a:t>
            </a:fld>
            <a:endParaRPr lang="en-US" sz="2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Player </a:t>
            </a:r>
            <a:r>
              <a:rPr lang="en-US" sz="4000" dirty="0">
                <a:latin typeface="Times New Roman" panose="02020603050405020304" pitchFamily="18" charset="0"/>
                <a:cs typeface="Times New Roman" panose="02020603050405020304" pitchFamily="18" charset="0"/>
              </a:rPr>
              <a:t>Impact</a:t>
            </a:r>
            <a:r>
              <a:rPr lang="en-US" sz="3600" dirty="0"/>
              <a:t> Rolling Score for Game</a:t>
            </a:r>
          </a:p>
        </p:txBody>
      </p:sp>
      <p:pic>
        <p:nvPicPr>
          <p:cNvPr id="6148" name="Picture 4">
            <a:extLst>
              <a:ext uri="{FF2B5EF4-FFF2-40B4-BE49-F238E27FC236}">
                <a16:creationId xmlns:a16="http://schemas.microsoft.com/office/drawing/2014/main" id="{550994F6-DBDE-59B4-1F7E-FF87173FF6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26234"/>
            <a:ext cx="9144000" cy="387191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51151E0B-7109-04F8-9428-64598FB57E22}"/>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21</a:t>
            </a:fld>
            <a:endParaRPr lang="en-US" sz="2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C7B99-BDFC-8C33-FB1D-F845747DE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82FF49-528F-B3E5-2EA7-9BDE8046DA99}"/>
              </a:ext>
            </a:extLst>
          </p:cNvPr>
          <p:cNvSpPr>
            <a:spLocks noGrp="1"/>
          </p:cNvSpPr>
          <p:nvPr>
            <p:ph type="title"/>
          </p:nvPr>
        </p:nvSpPr>
        <p:spPr/>
        <p:txBody>
          <a:bodyPr>
            <a:noAutofit/>
          </a:bodyPr>
          <a:lstStyle/>
          <a:p>
            <a:r>
              <a:rPr lang="en-US" sz="4000" dirty="0">
                <a:latin typeface="Times New Roman" panose="02020603050405020304" pitchFamily="18" charset="0"/>
                <a:cs typeface="Times New Roman" panose="02020603050405020304" pitchFamily="18" charset="0"/>
              </a:rPr>
              <a:t>Event</a:t>
            </a:r>
            <a:r>
              <a:rPr lang="en-US" sz="3600" dirty="0"/>
              <a:t> Spikes</a:t>
            </a:r>
          </a:p>
        </p:txBody>
      </p:sp>
      <p:pic>
        <p:nvPicPr>
          <p:cNvPr id="7170" name="Picture 2">
            <a:extLst>
              <a:ext uri="{FF2B5EF4-FFF2-40B4-BE49-F238E27FC236}">
                <a16:creationId xmlns:a16="http://schemas.microsoft.com/office/drawing/2014/main" id="{0A946E59-4411-B98A-B01E-00525975F5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95425"/>
            <a:ext cx="9144000" cy="386556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2861DF5-161B-9842-4791-79EA57A0BC3E}"/>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22</a:t>
            </a:fld>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05891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E5177-C32A-997A-2B03-B36C0A11B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BEBD33-FA33-B3F6-EAD7-40C4A4AEEDA8}"/>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Momentum</a:t>
            </a:r>
            <a:r>
              <a:rPr lang="en-US" dirty="0"/>
              <a:t> Phase Classification</a:t>
            </a:r>
          </a:p>
        </p:txBody>
      </p:sp>
      <p:pic>
        <p:nvPicPr>
          <p:cNvPr id="5122" name="Picture 2">
            <a:extLst>
              <a:ext uri="{FF2B5EF4-FFF2-40B4-BE49-F238E27FC236}">
                <a16:creationId xmlns:a16="http://schemas.microsoft.com/office/drawing/2014/main" id="{DD0AB3E5-C8CA-79C3-054D-CCB04DA9FF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663" y="1417638"/>
            <a:ext cx="5400675" cy="433387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C604A873-72A3-8C71-C397-B0A133C95BD0}"/>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23</a:t>
            </a:fld>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4478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F75136-726A-B88B-2CFF-8EBACBE6D07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EEB8ED6-9142-4A11-B029-18DDE98C49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7224F4-EDAE-B289-0615-6CC0F5D4AF32}"/>
              </a:ext>
            </a:extLst>
          </p:cNvPr>
          <p:cNvSpPr>
            <a:spLocks noGrp="1"/>
          </p:cNvSpPr>
          <p:nvPr>
            <p:ph type="title"/>
          </p:nvPr>
        </p:nvSpPr>
        <p:spPr>
          <a:xfrm>
            <a:off x="628650" y="365126"/>
            <a:ext cx="7886700" cy="1288784"/>
          </a:xfrm>
        </p:spPr>
        <p:txBody>
          <a:bodyPr>
            <a:normAutofit/>
          </a:bodyPr>
          <a:lstStyle/>
          <a:p>
            <a:r>
              <a:rPr lang="en-US" sz="3500" dirty="0">
                <a:latin typeface="Times New Roman" panose="02020603050405020304" pitchFamily="18" charset="0"/>
                <a:cs typeface="Times New Roman" panose="02020603050405020304" pitchFamily="18" charset="0"/>
              </a:rPr>
              <a:t>Momentum</a:t>
            </a:r>
            <a:r>
              <a:rPr lang="en-US" sz="3500" dirty="0"/>
              <a:t> Phase Classification</a:t>
            </a:r>
          </a:p>
        </p:txBody>
      </p:sp>
      <p:pic>
        <p:nvPicPr>
          <p:cNvPr id="5" name="Picture 4" descr="A person in black uniform with a basketball&#10;&#10;AI-generated content may be incorrect.">
            <a:extLst>
              <a:ext uri="{FF2B5EF4-FFF2-40B4-BE49-F238E27FC236}">
                <a16:creationId xmlns:a16="http://schemas.microsoft.com/office/drawing/2014/main" id="{D6E67D6D-5A63-CF23-CA4B-651E91103C77}"/>
              </a:ext>
            </a:extLst>
          </p:cNvPr>
          <p:cNvPicPr>
            <a:picLocks noChangeAspect="1"/>
          </p:cNvPicPr>
          <p:nvPr/>
        </p:nvPicPr>
        <p:blipFill>
          <a:blip r:embed="rId2"/>
          <a:srcRect l="16297" r="29929" b="1"/>
          <a:stretch>
            <a:fillRect/>
          </a:stretch>
        </p:blipFill>
        <p:spPr>
          <a:xfrm>
            <a:off x="628650" y="1825625"/>
            <a:ext cx="2699303" cy="2517775"/>
          </a:xfrm>
          <a:prstGeom prst="rect">
            <a:avLst/>
          </a:prstGeom>
        </p:spPr>
      </p:pic>
      <p:sp>
        <p:nvSpPr>
          <p:cNvPr id="3" name="Content Placeholder 2">
            <a:extLst>
              <a:ext uri="{FF2B5EF4-FFF2-40B4-BE49-F238E27FC236}">
                <a16:creationId xmlns:a16="http://schemas.microsoft.com/office/drawing/2014/main" id="{C3468093-5E42-EC4C-69FB-3F42DC0A187E}"/>
              </a:ext>
            </a:extLst>
          </p:cNvPr>
          <p:cNvSpPr>
            <a:spLocks noGrp="1"/>
          </p:cNvSpPr>
          <p:nvPr>
            <p:ph idx="1"/>
          </p:nvPr>
        </p:nvSpPr>
        <p:spPr>
          <a:xfrm>
            <a:off x="3672840" y="1825625"/>
            <a:ext cx="4842510" cy="4303464"/>
          </a:xfrm>
        </p:spPr>
        <p:txBody>
          <a:bodyPr>
            <a:normAutofit/>
          </a:bodyPr>
          <a:lstStyle/>
          <a:p>
            <a:r>
              <a:rPr lang="en-US" sz="2400" dirty="0">
                <a:latin typeface="Times New Roman" panose="02020603050405020304" pitchFamily="18" charset="0"/>
                <a:cs typeface="Times New Roman" panose="02020603050405020304" pitchFamily="18" charset="0"/>
              </a:rPr>
              <a:t>Random Forest classified momentum into </a:t>
            </a:r>
            <a:r>
              <a:rPr lang="en-US" sz="2400" b="1" dirty="0">
                <a:latin typeface="Times New Roman" panose="02020603050405020304" pitchFamily="18" charset="0"/>
                <a:cs typeface="Times New Roman" panose="02020603050405020304" pitchFamily="18" charset="0"/>
              </a:rPr>
              <a:t>Positive, Negative, Neutral</a:t>
            </a:r>
            <a:r>
              <a:rPr lang="en-US" sz="2400" dirty="0">
                <a:latin typeface="Times New Roman" panose="02020603050405020304" pitchFamily="18" charset="0"/>
                <a:cs typeface="Times New Roman" panose="02020603050405020304" pitchFamily="18" charset="0"/>
              </a:rPr>
              <a:t> with ~75% accuracy</a:t>
            </a:r>
          </a:p>
          <a:p>
            <a:r>
              <a:rPr lang="en-US" sz="2400" b="1" dirty="0">
                <a:latin typeface="Times New Roman" panose="02020603050405020304" pitchFamily="18" charset="0"/>
                <a:cs typeface="Times New Roman" panose="02020603050405020304" pitchFamily="18" charset="0"/>
              </a:rPr>
              <a:t>Key Predictors</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Score Differential &amp; Time Remaining (</a:t>
            </a:r>
            <a:r>
              <a:rPr lang="en-US" sz="2400" b="1" dirty="0">
                <a:latin typeface="Times New Roman" panose="02020603050405020304" pitchFamily="18" charset="0"/>
                <a:cs typeface="Times New Roman" panose="02020603050405020304" pitchFamily="18" charset="0"/>
              </a:rPr>
              <a:t>high importance</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Rolling shot/rebound/foul events (</a:t>
            </a:r>
            <a:r>
              <a:rPr lang="en-US" sz="2400" b="1" dirty="0">
                <a:latin typeface="Times New Roman" panose="02020603050405020304" pitchFamily="18" charset="0"/>
                <a:cs typeface="Times New Roman" panose="02020603050405020304" pitchFamily="18" charset="0"/>
              </a:rPr>
              <a:t>moderate</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Substitutions (</a:t>
            </a:r>
            <a:r>
              <a:rPr lang="en-US" sz="2400" b="1" dirty="0">
                <a:latin typeface="Times New Roman" panose="02020603050405020304" pitchFamily="18" charset="0"/>
                <a:cs typeface="Times New Roman" panose="02020603050405020304" pitchFamily="18" charset="0"/>
              </a:rPr>
              <a:t>lower</a:t>
            </a:r>
            <a:r>
              <a:rPr lang="en-US" sz="2400" dirty="0">
                <a:latin typeface="Times New Roman" panose="02020603050405020304" pitchFamily="18" charset="0"/>
                <a:cs typeface="Times New Roman" panose="02020603050405020304" pitchFamily="18" charset="0"/>
              </a:rPr>
              <a:t>)</a:t>
            </a:r>
          </a:p>
          <a:p>
            <a:pPr marL="0" indent="0">
              <a:buNone/>
            </a:pPr>
            <a:endParaRPr lang="en-US" sz="1700" dirty="0"/>
          </a:p>
        </p:txBody>
      </p:sp>
      <p:sp>
        <p:nvSpPr>
          <p:cNvPr id="6" name="Slide Number Placeholder 5">
            <a:extLst>
              <a:ext uri="{FF2B5EF4-FFF2-40B4-BE49-F238E27FC236}">
                <a16:creationId xmlns:a16="http://schemas.microsoft.com/office/drawing/2014/main" id="{2C18F5DA-FF87-658F-32D3-01CC51A7CEE8}"/>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24</a:t>
            </a:fld>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6959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390" y="-401923"/>
            <a:ext cx="3938487" cy="1807305"/>
          </a:xfrm>
        </p:spPr>
        <p:txBody>
          <a:bodyPr>
            <a:normAutofit/>
          </a:bodyPr>
          <a:lstStyle/>
          <a:p>
            <a:r>
              <a:rPr lang="en-US" dirty="0">
                <a:latin typeface="Times New Roman" panose="02020603050405020304" pitchFamily="18" charset="0"/>
                <a:cs typeface="Times New Roman" panose="02020603050405020304" pitchFamily="18" charset="0"/>
              </a:rPr>
              <a:t>Conclusion</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09447" y="1003458"/>
            <a:ext cx="4933950" cy="4454843"/>
          </a:xfrm>
        </p:spPr>
        <p:txBody>
          <a:bodyPr>
            <a:noAutofit/>
          </a:bodyPr>
          <a:lstStyle/>
          <a:p>
            <a:pPr marL="0" indent="0">
              <a:lnSpc>
                <a:spcPct val="90000"/>
              </a:lnSpc>
              <a:buNone/>
            </a:pPr>
            <a:r>
              <a:rPr lang="en-US" sz="1800" b="1" dirty="0">
                <a:latin typeface="Times New Roman" panose="02020603050405020304" pitchFamily="18" charset="0"/>
                <a:cs typeface="Times New Roman" panose="02020603050405020304" pitchFamily="18" charset="0"/>
              </a:rPr>
              <a:t>Player Impact Estimation</a:t>
            </a:r>
            <a:endParaRPr lang="en-US" sz="1800" dirty="0">
              <a:latin typeface="Times New Roman" panose="02020603050405020304" pitchFamily="18" charset="0"/>
              <a:cs typeface="Times New Roman" panose="02020603050405020304" pitchFamily="18" charset="0"/>
            </a:endParaRPr>
          </a:p>
          <a:p>
            <a:pPr>
              <a:lnSpc>
                <a:spcPct val="9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LASSO logistic regression model</a:t>
            </a:r>
            <a:r>
              <a:rPr lang="en-US" sz="1800" dirty="0">
                <a:latin typeface="Times New Roman" panose="02020603050405020304" pitchFamily="18" charset="0"/>
                <a:cs typeface="Times New Roman" panose="02020603050405020304" pitchFamily="18" charset="0"/>
              </a:rPr>
              <a:t> served as a transparent and interpretable baseline, directly linking players and event types to positive or negative outcomes.</a:t>
            </a:r>
          </a:p>
          <a:p>
            <a:pPr>
              <a:lnSpc>
                <a:spcPct val="9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a:t>
            </a:r>
            <a:r>
              <a:rPr lang="en-US" sz="1800" b="1" dirty="0" err="1">
                <a:latin typeface="Times New Roman" panose="02020603050405020304" pitchFamily="18" charset="0"/>
                <a:cs typeface="Times New Roman" panose="02020603050405020304" pitchFamily="18" charset="0"/>
              </a:rPr>
              <a:t>XGBoost</a:t>
            </a:r>
            <a:r>
              <a:rPr lang="en-US" sz="1800" b="1" dirty="0">
                <a:latin typeface="Times New Roman" panose="02020603050405020304" pitchFamily="18" charset="0"/>
                <a:cs typeface="Times New Roman" panose="02020603050405020304" pitchFamily="18" charset="0"/>
              </a:rPr>
              <a:t> classifier</a:t>
            </a:r>
            <a:r>
              <a:rPr lang="en-US" sz="1800" dirty="0">
                <a:latin typeface="Times New Roman" panose="02020603050405020304" pitchFamily="18" charset="0"/>
                <a:cs typeface="Times New Roman" panose="02020603050405020304" pitchFamily="18" charset="0"/>
              </a:rPr>
              <a:t> improved predictive performance, achieving ~69% F1 compared to ~64% for LASSO. Crucially, it captured non-linear effects such as lineup synergies and context-dependent player performance. SHAP values confirmed the critical influence of rebounds, shot-making, and fouls.</a:t>
            </a:r>
          </a:p>
          <a:p>
            <a:pPr marL="0" indent="0">
              <a:lnSpc>
                <a:spcPct val="90000"/>
              </a:lnSpc>
              <a:buNone/>
            </a:pPr>
            <a:r>
              <a:rPr lang="en-US" sz="1800" b="1" dirty="0">
                <a:latin typeface="Times New Roman" panose="02020603050405020304" pitchFamily="18" charset="0"/>
                <a:cs typeface="Times New Roman" panose="02020603050405020304" pitchFamily="18" charset="0"/>
              </a:rPr>
              <a:t>Momentum Phase Classification</a:t>
            </a:r>
            <a:endParaRPr lang="en-US" sz="1800" dirty="0">
              <a:latin typeface="Times New Roman" panose="02020603050405020304" pitchFamily="18" charset="0"/>
              <a:cs typeface="Times New Roman" panose="02020603050405020304" pitchFamily="18" charset="0"/>
            </a:endParaRPr>
          </a:p>
          <a:p>
            <a:pPr>
              <a:lnSpc>
                <a:spcPct val="9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Using </a:t>
            </a:r>
            <a:r>
              <a:rPr lang="en-US" sz="1800" b="1" dirty="0">
                <a:latin typeface="Times New Roman" panose="02020603050405020304" pitchFamily="18" charset="0"/>
                <a:cs typeface="Times New Roman" panose="02020603050405020304" pitchFamily="18" charset="0"/>
              </a:rPr>
              <a:t>Bayesian change-point detection</a:t>
            </a:r>
            <a:r>
              <a:rPr lang="en-US" sz="1800" dirty="0">
                <a:latin typeface="Times New Roman" panose="02020603050405020304" pitchFamily="18" charset="0"/>
                <a:cs typeface="Times New Roman" panose="02020603050405020304" pitchFamily="18" charset="0"/>
              </a:rPr>
              <a:t> and a </a:t>
            </a:r>
            <a:r>
              <a:rPr lang="en-US" sz="1800" b="1" dirty="0">
                <a:latin typeface="Times New Roman" panose="02020603050405020304" pitchFamily="18" charset="0"/>
                <a:cs typeface="Times New Roman" panose="02020603050405020304" pitchFamily="18" charset="0"/>
              </a:rPr>
              <a:t>Random Forest classifier</a:t>
            </a:r>
            <a:r>
              <a:rPr lang="en-US" sz="1800" dirty="0">
                <a:latin typeface="Times New Roman" panose="02020603050405020304" pitchFamily="18" charset="0"/>
                <a:cs typeface="Times New Roman" panose="02020603050405020304" pitchFamily="18" charset="0"/>
              </a:rPr>
              <a:t>, momentum phases were modelled into positive, neutral, and negative states.</a:t>
            </a:r>
          </a:p>
          <a:p>
            <a:pPr>
              <a:lnSpc>
                <a:spcPct val="9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Random Forest achieved ~74% accuracy, with score differential, time remaining, and rolling metrics emerging as primary drivers of game flow.</a:t>
            </a:r>
          </a:p>
        </p:txBody>
      </p:sp>
      <p:pic>
        <p:nvPicPr>
          <p:cNvPr id="5" name="Picture 4" descr="A basketball player dunking a basketball&#10;&#10;AI-generated content may be incorrect.">
            <a:extLst>
              <a:ext uri="{FF2B5EF4-FFF2-40B4-BE49-F238E27FC236}">
                <a16:creationId xmlns:a16="http://schemas.microsoft.com/office/drawing/2014/main" id="{6D6BB825-0B7A-49D1-F016-399B6C609D5E}"/>
              </a:ext>
            </a:extLst>
          </p:cNvPr>
          <p:cNvPicPr>
            <a:picLocks noChangeAspect="1"/>
          </p:cNvPicPr>
          <p:nvPr/>
        </p:nvPicPr>
        <p:blipFill>
          <a:blip r:embed="rId3"/>
          <a:srcRect r="21364"/>
          <a:stretch>
            <a:fillRect/>
          </a:stretch>
        </p:blipFill>
        <p:spPr>
          <a:xfrm>
            <a:off x="5195787" y="10"/>
            <a:ext cx="3998317"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6" name="Slide Number Placeholder 5">
            <a:extLst>
              <a:ext uri="{FF2B5EF4-FFF2-40B4-BE49-F238E27FC236}">
                <a16:creationId xmlns:a16="http://schemas.microsoft.com/office/drawing/2014/main" id="{53E2B291-F64C-19BE-5AD6-29721375E830}"/>
              </a:ext>
            </a:extLst>
          </p:cNvPr>
          <p:cNvSpPr>
            <a:spLocks noGrp="1"/>
          </p:cNvSpPr>
          <p:nvPr>
            <p:ph type="sldNum" sz="quarter" idx="12"/>
          </p:nvPr>
        </p:nvSpPr>
        <p:spPr/>
        <p:txBody>
          <a:bodyPr/>
          <a:lstStyle/>
          <a:p>
            <a:fld id="{C1FF6DA9-008F-8B48-92A6-B652298478BF}" type="slidenum">
              <a:rPr lang="en-US" sz="2000" smtClean="0">
                <a:solidFill>
                  <a:schemeClr val="bg1"/>
                </a:solidFill>
                <a:latin typeface="Times New Roman" panose="02020603050405020304" pitchFamily="18" charset="0"/>
                <a:cs typeface="Times New Roman" panose="02020603050405020304" pitchFamily="18" charset="0"/>
              </a:rPr>
              <a:t>25</a:t>
            </a:fld>
            <a:endParaRPr lang="en-US"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A110AC-C20B-3CBD-487C-DD8ECC9C52D0}"/>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5279C7-78BA-658C-B146-3280508AC681}"/>
              </a:ext>
            </a:extLst>
          </p:cNvPr>
          <p:cNvSpPr>
            <a:spLocks noGrp="1"/>
          </p:cNvSpPr>
          <p:nvPr>
            <p:ph type="title"/>
          </p:nvPr>
        </p:nvSpPr>
        <p:spPr>
          <a:xfrm>
            <a:off x="4885341" y="-351155"/>
            <a:ext cx="3630007" cy="1807305"/>
          </a:xfrm>
        </p:spPr>
        <p:txBody>
          <a:bodyPr>
            <a:normAutofit/>
          </a:bodyPr>
          <a:lstStyle/>
          <a:p>
            <a:r>
              <a:rPr lang="en-US" dirty="0">
                <a:latin typeface="Times New Roman" panose="02020603050405020304" pitchFamily="18" charset="0"/>
                <a:cs typeface="Times New Roman" panose="02020603050405020304" pitchFamily="18" charset="0"/>
              </a:rPr>
              <a:t>Conclusion</a:t>
            </a:r>
          </a:p>
        </p:txBody>
      </p:sp>
      <p:pic>
        <p:nvPicPr>
          <p:cNvPr id="5" name="Picture 4" descr="A basketball in a net&#10;&#10;AI-generated content may be incorrect.">
            <a:extLst>
              <a:ext uri="{FF2B5EF4-FFF2-40B4-BE49-F238E27FC236}">
                <a16:creationId xmlns:a16="http://schemas.microsoft.com/office/drawing/2014/main" id="{1E6F8EF1-66DC-B110-15BE-97FDB25B5FAB}"/>
              </a:ext>
            </a:extLst>
          </p:cNvPr>
          <p:cNvPicPr>
            <a:picLocks noChangeAspect="1"/>
          </p:cNvPicPr>
          <p:nvPr/>
        </p:nvPicPr>
        <p:blipFill>
          <a:blip r:embed="rId2"/>
          <a:srcRect l="33911" r="32643"/>
          <a:stretch>
            <a:fillRect/>
          </a:stretch>
        </p:blipFill>
        <p:spPr>
          <a:xfrm>
            <a:off x="20" y="10"/>
            <a:ext cx="4587406"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71EF233A-3048-DA69-EE1A-A3E0FA30AE25}"/>
              </a:ext>
            </a:extLst>
          </p:cNvPr>
          <p:cNvSpPr>
            <a:spLocks noGrp="1"/>
          </p:cNvSpPr>
          <p:nvPr>
            <p:ph idx="1"/>
          </p:nvPr>
        </p:nvSpPr>
        <p:spPr>
          <a:xfrm>
            <a:off x="4885341" y="1270158"/>
            <a:ext cx="3908139" cy="4317683"/>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Comparative Insights</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Each model addressed different dimensions of the problem: </a:t>
            </a:r>
            <a:r>
              <a:rPr lang="en-US" sz="2000" b="1" dirty="0">
                <a:latin typeface="Times New Roman" panose="02020603050405020304" pitchFamily="18" charset="0"/>
                <a:cs typeface="Times New Roman" panose="02020603050405020304" pitchFamily="18" charset="0"/>
              </a:rPr>
              <a:t>LASSO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prioritised</a:t>
            </a:r>
            <a:r>
              <a:rPr lang="en-US" sz="2000" dirty="0">
                <a:latin typeface="Times New Roman" panose="02020603050405020304" pitchFamily="18" charset="0"/>
                <a:cs typeface="Times New Roman" panose="02020603050405020304" pitchFamily="18" charset="0"/>
              </a:rPr>
              <a:t> interpretability, </a:t>
            </a:r>
            <a:r>
              <a:rPr lang="en-US" sz="2000" b="1"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optimised</a:t>
            </a:r>
            <a:r>
              <a:rPr lang="en-US" sz="2000" dirty="0">
                <a:latin typeface="Times New Roman" panose="02020603050405020304" pitchFamily="18" charset="0"/>
                <a:cs typeface="Times New Roman" panose="02020603050405020304" pitchFamily="18" charset="0"/>
              </a:rPr>
              <a:t> accuracy for player-level analysis, and </a:t>
            </a:r>
            <a:r>
              <a:rPr lang="en-US" sz="2000" b="1" dirty="0">
                <a:latin typeface="Times New Roman" panose="02020603050405020304" pitchFamily="18" charset="0"/>
                <a:cs typeface="Times New Roman" panose="02020603050405020304" pitchFamily="18" charset="0"/>
              </a:rPr>
              <a:t>Random Forests</a:t>
            </a:r>
            <a:r>
              <a:rPr lang="en-US" sz="2000" dirty="0">
                <a:latin typeface="Times New Roman" panose="02020603050405020304" pitchFamily="18" charset="0"/>
                <a:cs typeface="Times New Roman" panose="02020603050405020304" pitchFamily="18" charset="0"/>
              </a:rPr>
              <a:t> effectively modelled team-level momentum.</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Integrating these approaches enabled both </a:t>
            </a:r>
            <a:r>
              <a:rPr lang="en-US" sz="2000" b="1" dirty="0">
                <a:latin typeface="Times New Roman" panose="02020603050405020304" pitchFamily="18" charset="0"/>
                <a:cs typeface="Times New Roman" panose="02020603050405020304" pitchFamily="18" charset="0"/>
              </a:rPr>
              <a:t>micro-level (player impact)</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macro-level (team momentum)</a:t>
            </a:r>
            <a:r>
              <a:rPr lang="en-US" sz="2000" dirty="0">
                <a:latin typeface="Times New Roman" panose="02020603050405020304" pitchFamily="18" charset="0"/>
                <a:cs typeface="Times New Roman" panose="02020603050405020304" pitchFamily="18" charset="0"/>
              </a:rPr>
              <a:t> perspectives, supporting tactical decision-making in professional basketball.</a:t>
            </a:r>
          </a:p>
        </p:txBody>
      </p:sp>
      <p:sp>
        <p:nvSpPr>
          <p:cNvPr id="6" name="Slide Number Placeholder 5">
            <a:extLst>
              <a:ext uri="{FF2B5EF4-FFF2-40B4-BE49-F238E27FC236}">
                <a16:creationId xmlns:a16="http://schemas.microsoft.com/office/drawing/2014/main" id="{9CB21CCF-9F5E-0845-9759-BD7AF80E26AF}"/>
              </a:ext>
            </a:extLst>
          </p:cNvPr>
          <p:cNvSpPr>
            <a:spLocks noGrp="1"/>
          </p:cNvSpPr>
          <p:nvPr>
            <p:ph type="sldNum" sz="quarter" idx="12"/>
          </p:nvPr>
        </p:nvSpPr>
        <p:spPr/>
        <p:txBody>
          <a:bodyPr/>
          <a:lstStyle/>
          <a:p>
            <a:fld id="{C1FF6DA9-008F-8B48-92A6-B652298478BF}" type="slidenum">
              <a:rPr lang="en-US" sz="2000" smtClean="0">
                <a:solidFill>
                  <a:schemeClr val="tx1"/>
                </a:solidFill>
                <a:latin typeface="Times New Roman" panose="02020603050405020304" pitchFamily="18" charset="0"/>
                <a:cs typeface="Times New Roman" panose="02020603050405020304" pitchFamily="18" charset="0"/>
              </a:rPr>
              <a:t>26</a:t>
            </a:fld>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2789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C094BA-9DDB-ED10-FAC1-F7161F61C1E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4E66CD-A62F-E435-4ED9-5C7F6D60B8E7}"/>
              </a:ext>
            </a:extLst>
          </p:cNvPr>
          <p:cNvSpPr>
            <a:spLocks noGrp="1"/>
          </p:cNvSpPr>
          <p:nvPr>
            <p:ph type="title"/>
          </p:nvPr>
        </p:nvSpPr>
        <p:spPr>
          <a:xfrm>
            <a:off x="626268" y="595580"/>
            <a:ext cx="3293268" cy="1323439"/>
          </a:xfrm>
        </p:spPr>
        <p:txBody>
          <a:bodyPr anchor="t">
            <a:normAutofit/>
          </a:bodyPr>
          <a:lstStyle/>
          <a:p>
            <a:r>
              <a:rPr lang="en-US" sz="3500" dirty="0">
                <a:solidFill>
                  <a:schemeClr val="bg1"/>
                </a:solidFill>
                <a:latin typeface="Times New Roman" panose="02020603050405020304" pitchFamily="18" charset="0"/>
                <a:cs typeface="Times New Roman" panose="02020603050405020304" pitchFamily="18" charset="0"/>
              </a:rPr>
              <a:t>Future Work</a:t>
            </a:r>
          </a:p>
        </p:txBody>
      </p:sp>
      <p:sp>
        <p:nvSpPr>
          <p:cNvPr id="3" name="Content Placeholder 2">
            <a:extLst>
              <a:ext uri="{FF2B5EF4-FFF2-40B4-BE49-F238E27FC236}">
                <a16:creationId xmlns:a16="http://schemas.microsoft.com/office/drawing/2014/main" id="{99B3506C-A915-E896-3CDA-A0540CED74B7}"/>
              </a:ext>
            </a:extLst>
          </p:cNvPr>
          <p:cNvSpPr>
            <a:spLocks noGrp="1"/>
          </p:cNvSpPr>
          <p:nvPr>
            <p:ph idx="1"/>
          </p:nvPr>
        </p:nvSpPr>
        <p:spPr>
          <a:xfrm>
            <a:off x="628650" y="1792214"/>
            <a:ext cx="3917154" cy="3808486"/>
          </a:xfrm>
        </p:spPr>
        <p:txBody>
          <a:bodyPr>
            <a:normAutofit/>
          </a:bodyPr>
          <a:lstStyle/>
          <a:p>
            <a:r>
              <a:rPr lang="en-US" sz="2800" dirty="0">
                <a:solidFill>
                  <a:schemeClr val="bg1">
                    <a:alpha val="80000"/>
                  </a:schemeClr>
                </a:solidFill>
                <a:latin typeface="Times New Roman" panose="02020603050405020304" pitchFamily="18" charset="0"/>
                <a:cs typeface="Times New Roman" panose="02020603050405020304" pitchFamily="18" charset="0"/>
              </a:rPr>
              <a:t>Integration of Spatial </a:t>
            </a:r>
          </a:p>
          <a:p>
            <a:r>
              <a:rPr lang="en-US" sz="2800" dirty="0">
                <a:solidFill>
                  <a:schemeClr val="bg1">
                    <a:alpha val="80000"/>
                  </a:schemeClr>
                </a:solidFill>
                <a:latin typeface="Times New Roman" panose="02020603050405020304" pitchFamily="18" charset="0"/>
                <a:cs typeface="Times New Roman" panose="02020603050405020304" pitchFamily="18" charset="0"/>
              </a:rPr>
              <a:t>Advanced Temporal</a:t>
            </a:r>
          </a:p>
          <a:p>
            <a:r>
              <a:rPr lang="en-US" sz="2800" dirty="0">
                <a:solidFill>
                  <a:schemeClr val="bg1">
                    <a:alpha val="80000"/>
                  </a:schemeClr>
                </a:solidFill>
                <a:latin typeface="Times New Roman" panose="02020603050405020304" pitchFamily="18" charset="0"/>
                <a:cs typeface="Times New Roman" panose="02020603050405020304" pitchFamily="18" charset="0"/>
              </a:rPr>
              <a:t>Enhanced Player </a:t>
            </a:r>
          </a:p>
          <a:p>
            <a:r>
              <a:rPr lang="en-US" sz="2800" dirty="0">
                <a:solidFill>
                  <a:schemeClr val="bg1">
                    <a:alpha val="80000"/>
                  </a:schemeClr>
                </a:solidFill>
                <a:latin typeface="Times New Roman" panose="02020603050405020304" pitchFamily="18" charset="0"/>
                <a:cs typeface="Times New Roman" panose="02020603050405020304" pitchFamily="18" charset="0"/>
              </a:rPr>
              <a:t>Real-Time Deployment</a:t>
            </a:r>
          </a:p>
          <a:p>
            <a:r>
              <a:rPr lang="en-US" sz="2800" dirty="0">
                <a:solidFill>
                  <a:schemeClr val="bg1">
                    <a:alpha val="80000"/>
                  </a:schemeClr>
                </a:solidFill>
                <a:latin typeface="Times New Roman" panose="02020603050405020304" pitchFamily="18" charset="0"/>
                <a:cs typeface="Times New Roman" panose="02020603050405020304" pitchFamily="18" charset="0"/>
              </a:rPr>
              <a:t>Cross-Sport Adaptability</a:t>
            </a:r>
          </a:p>
        </p:txBody>
      </p:sp>
      <p:grpSp>
        <p:nvGrpSpPr>
          <p:cNvPr id="12" name="Group 11">
            <a:extLst>
              <a:ext uri="{FF2B5EF4-FFF2-40B4-BE49-F238E27FC236}">
                <a16:creationId xmlns:a16="http://schemas.microsoft.com/office/drawing/2014/main" id="{D44E3F87-3D58-4B03-86B2-15A5C5B9C9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572000" y="841376"/>
            <a:ext cx="3945732" cy="4707593"/>
            <a:chOff x="6096000" y="841376"/>
            <a:chExt cx="5260976" cy="4707593"/>
          </a:xfrm>
          <a:effectLst>
            <a:outerShdw blurRad="381000" dist="152400" dir="5400000" algn="ctr" rotWithShape="0">
              <a:srgbClr val="000000">
                <a:alpha val="10000"/>
              </a:srgbClr>
            </a:outerShdw>
          </a:effectLst>
        </p:grpSpPr>
        <p:grpSp>
          <p:nvGrpSpPr>
            <p:cNvPr id="13" name="Group 12">
              <a:extLst>
                <a:ext uri="{FF2B5EF4-FFF2-40B4-BE49-F238E27FC236}">
                  <a16:creationId xmlns:a16="http://schemas.microsoft.com/office/drawing/2014/main" id="{B4D09509-F6FC-47A6-B196-CCCFD8E8305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1" y="841376"/>
              <a:ext cx="5260975" cy="4707593"/>
              <a:chOff x="6096001" y="841376"/>
              <a:chExt cx="5260975" cy="4707593"/>
            </a:xfrm>
          </p:grpSpPr>
          <p:sp>
            <p:nvSpPr>
              <p:cNvPr id="17" name="Freeform: Shape 16">
                <a:extLst>
                  <a:ext uri="{FF2B5EF4-FFF2-40B4-BE49-F238E27FC236}">
                    <a16:creationId xmlns:a16="http://schemas.microsoft.com/office/drawing/2014/main" id="{BA5B9D66-192D-4F12-964D-2B23A1D27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C9C14E68-C469-4A71-AF08-169DB545F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14" name="Group 13">
              <a:extLst>
                <a:ext uri="{FF2B5EF4-FFF2-40B4-BE49-F238E27FC236}">
                  <a16:creationId xmlns:a16="http://schemas.microsoft.com/office/drawing/2014/main" id="{B2C18990-7F62-45E8-B68F-47E95E4812F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0" y="4138312"/>
              <a:ext cx="5260975" cy="1410656"/>
              <a:chOff x="6096000" y="4138312"/>
              <a:chExt cx="5260975" cy="1410656"/>
            </a:xfrm>
          </p:grpSpPr>
          <p:sp>
            <p:nvSpPr>
              <p:cNvPr id="15" name="Freeform: Shape 14">
                <a:extLst>
                  <a:ext uri="{FF2B5EF4-FFF2-40B4-BE49-F238E27FC236}">
                    <a16:creationId xmlns:a16="http://schemas.microsoft.com/office/drawing/2014/main" id="{AC206BB2-3759-4DF0-9932-7445B6367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381FA6FA-3CB6-4F57-8871-82DDE5BE8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pic>
        <p:nvPicPr>
          <p:cNvPr id="5" name="Picture 4" descr="A basketball player dribbling a basketball&#10;&#10;AI-generated content may be incorrect.">
            <a:extLst>
              <a:ext uri="{FF2B5EF4-FFF2-40B4-BE49-F238E27FC236}">
                <a16:creationId xmlns:a16="http://schemas.microsoft.com/office/drawing/2014/main" id="{58091B8F-A94A-7CED-8BAD-99A8281113C7}"/>
              </a:ext>
            </a:extLst>
          </p:cNvPr>
          <p:cNvPicPr>
            <a:picLocks noChangeAspect="1"/>
          </p:cNvPicPr>
          <p:nvPr/>
        </p:nvPicPr>
        <p:blipFill>
          <a:blip r:embed="rId4"/>
          <a:stretch>
            <a:fillRect/>
          </a:stretch>
        </p:blipFill>
        <p:spPr>
          <a:xfrm>
            <a:off x="4906449" y="1792214"/>
            <a:ext cx="3276834" cy="2180584"/>
          </a:xfrm>
          <a:prstGeom prst="rect">
            <a:avLst/>
          </a:prstGeom>
        </p:spPr>
      </p:pic>
      <p:sp>
        <p:nvSpPr>
          <p:cNvPr id="6" name="Slide Number Placeholder 5">
            <a:extLst>
              <a:ext uri="{FF2B5EF4-FFF2-40B4-BE49-F238E27FC236}">
                <a16:creationId xmlns:a16="http://schemas.microsoft.com/office/drawing/2014/main" id="{B77E6FCD-A2FD-62D6-3B5E-DB443FCF0732}"/>
              </a:ext>
            </a:extLst>
          </p:cNvPr>
          <p:cNvSpPr>
            <a:spLocks noGrp="1"/>
          </p:cNvSpPr>
          <p:nvPr>
            <p:ph type="sldNum" sz="quarter" idx="12"/>
          </p:nvPr>
        </p:nvSpPr>
        <p:spPr/>
        <p:txBody>
          <a:bodyPr/>
          <a:lstStyle/>
          <a:p>
            <a:fld id="{C1FF6DA9-008F-8B48-92A6-B652298478BF}" type="slidenum">
              <a:rPr lang="en-US" sz="2000" smtClean="0">
                <a:solidFill>
                  <a:schemeClr val="bg1"/>
                </a:solidFill>
                <a:latin typeface="Times New Roman" panose="02020603050405020304" pitchFamily="18" charset="0"/>
                <a:cs typeface="Times New Roman" panose="02020603050405020304" pitchFamily="18" charset="0"/>
              </a:rPr>
              <a:t>27</a:t>
            </a:fld>
            <a:endParaRPr lang="en-US"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154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C6777B5-64F4-4200-B099-34168B69F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asketball going into a net&#10;&#10;AI-generated content may be incorrect.">
            <a:extLst>
              <a:ext uri="{FF2B5EF4-FFF2-40B4-BE49-F238E27FC236}">
                <a16:creationId xmlns:a16="http://schemas.microsoft.com/office/drawing/2014/main" id="{F8C506DB-7A7E-D08E-ED04-04E2B97D99BC}"/>
              </a:ext>
            </a:extLst>
          </p:cNvPr>
          <p:cNvPicPr>
            <a:picLocks noChangeAspect="1"/>
          </p:cNvPicPr>
          <p:nvPr/>
        </p:nvPicPr>
        <p:blipFill>
          <a:blip r:embed="rId2"/>
          <a:srcRect r="2124" b="-1"/>
          <a:stretch>
            <a:fillRect/>
          </a:stretch>
        </p:blipFill>
        <p:spPr>
          <a:xfrm>
            <a:off x="20" y="10"/>
            <a:ext cx="9143980" cy="6095990"/>
          </a:xfrm>
          <a:custGeom>
            <a:avLst/>
            <a:gdLst/>
            <a:ahLst/>
            <a:cxnLst/>
            <a:rect l="l" t="t" r="r" b="b"/>
            <a:pathLst>
              <a:path w="12192000" h="6096000">
                <a:moveTo>
                  <a:pt x="7230262" y="5906862"/>
                </a:moveTo>
                <a:lnTo>
                  <a:pt x="7197115" y="5913338"/>
                </a:lnTo>
                <a:lnTo>
                  <a:pt x="7214545" y="5911744"/>
                </a:lnTo>
                <a:cubicBezTo>
                  <a:pt x="7220308" y="5910958"/>
                  <a:pt x="7225785" y="5909624"/>
                  <a:pt x="7230262" y="5906862"/>
                </a:cubicBezTo>
                <a:close/>
                <a:moveTo>
                  <a:pt x="7009120" y="5850263"/>
                </a:moveTo>
                <a:lnTo>
                  <a:pt x="7021563" y="5861355"/>
                </a:lnTo>
                <a:lnTo>
                  <a:pt x="7021563" y="5861354"/>
                </a:lnTo>
                <a:close/>
                <a:moveTo>
                  <a:pt x="7768443" y="5742074"/>
                </a:moveTo>
                <a:lnTo>
                  <a:pt x="7768443" y="5742075"/>
                </a:lnTo>
                <a:lnTo>
                  <a:pt x="7792447" y="5764553"/>
                </a:lnTo>
                <a:cubicBezTo>
                  <a:pt x="7785969" y="5758457"/>
                  <a:pt x="7779301" y="5752361"/>
                  <a:pt x="7768443" y="5742074"/>
                </a:cubicBezTo>
                <a:close/>
                <a:moveTo>
                  <a:pt x="4038748" y="5739955"/>
                </a:moveTo>
                <a:lnTo>
                  <a:pt x="4030517" y="5751599"/>
                </a:lnTo>
                <a:cubicBezTo>
                  <a:pt x="4026230" y="5759505"/>
                  <a:pt x="4021242" y="5765745"/>
                  <a:pt x="4015609" y="5770450"/>
                </a:cubicBezTo>
                <a:lnTo>
                  <a:pt x="3996845" y="5780104"/>
                </a:lnTo>
                <a:cubicBezTo>
                  <a:pt x="4010562" y="5776555"/>
                  <a:pt x="4021944" y="5767411"/>
                  <a:pt x="4030518" y="5751599"/>
                </a:cubicBezTo>
                <a:close/>
                <a:moveTo>
                  <a:pt x="6245343" y="5736549"/>
                </a:moveTo>
                <a:lnTo>
                  <a:pt x="6274406" y="5743345"/>
                </a:lnTo>
                <a:lnTo>
                  <a:pt x="6291247" y="5749662"/>
                </a:lnTo>
                <a:lnTo>
                  <a:pt x="6291385" y="5749714"/>
                </a:lnTo>
                <a:lnTo>
                  <a:pt x="6306284" y="5755552"/>
                </a:lnTo>
                <a:lnTo>
                  <a:pt x="6308075" y="5755968"/>
                </a:lnTo>
                <a:lnTo>
                  <a:pt x="6313855" y="5758133"/>
                </a:lnTo>
                <a:cubicBezTo>
                  <a:pt x="6321454" y="5760521"/>
                  <a:pt x="6329151" y="5762258"/>
                  <a:pt x="6337048" y="5762696"/>
                </a:cubicBezTo>
                <a:lnTo>
                  <a:pt x="6308075" y="5755968"/>
                </a:lnTo>
                <a:lnTo>
                  <a:pt x="6291385" y="5749714"/>
                </a:lnTo>
                <a:lnTo>
                  <a:pt x="6276197" y="5743764"/>
                </a:lnTo>
                <a:lnTo>
                  <a:pt x="6274406" y="5743345"/>
                </a:lnTo>
                <a:lnTo>
                  <a:pt x="6268613" y="5741171"/>
                </a:lnTo>
                <a:cubicBezTo>
                  <a:pt x="6260996" y="5738770"/>
                  <a:pt x="6253273" y="5737013"/>
                  <a:pt x="6245343" y="5736549"/>
                </a:cubicBezTo>
                <a:close/>
                <a:moveTo>
                  <a:pt x="6558837" y="5706717"/>
                </a:moveTo>
                <a:cubicBezTo>
                  <a:pt x="6548970" y="5706068"/>
                  <a:pt x="6539355" y="5706473"/>
                  <a:pt x="6529984" y="5708163"/>
                </a:cubicBezTo>
                <a:lnTo>
                  <a:pt x="6589207" y="5711593"/>
                </a:lnTo>
                <a:cubicBezTo>
                  <a:pt x="6578825" y="5709068"/>
                  <a:pt x="6568705" y="5707366"/>
                  <a:pt x="6558837" y="5706717"/>
                </a:cubicBezTo>
                <a:close/>
                <a:moveTo>
                  <a:pt x="4834454" y="5646059"/>
                </a:moveTo>
                <a:cubicBezTo>
                  <a:pt x="4849504" y="5662538"/>
                  <a:pt x="4866316" y="5668776"/>
                  <a:pt x="4883986" y="5670301"/>
                </a:cubicBezTo>
                <a:lnTo>
                  <a:pt x="4858238" y="5663787"/>
                </a:lnTo>
                <a:cubicBezTo>
                  <a:pt x="4849945" y="5659978"/>
                  <a:pt x="4841980" y="5654298"/>
                  <a:pt x="4834454" y="5646059"/>
                </a:cubicBezTo>
                <a:close/>
                <a:moveTo>
                  <a:pt x="5056443" y="5643725"/>
                </a:moveTo>
                <a:lnTo>
                  <a:pt x="5072588" y="5644505"/>
                </a:lnTo>
                <a:cubicBezTo>
                  <a:pt x="5078053" y="5645963"/>
                  <a:pt x="5083590" y="5648726"/>
                  <a:pt x="5089162" y="5653107"/>
                </a:cubicBezTo>
                <a:cubicBezTo>
                  <a:pt x="5078019" y="5644344"/>
                  <a:pt x="5067015" y="5642058"/>
                  <a:pt x="5056443" y="5643725"/>
                </a:cubicBezTo>
                <a:close/>
                <a:moveTo>
                  <a:pt x="739852" y="5343843"/>
                </a:moveTo>
                <a:cubicBezTo>
                  <a:pt x="733899" y="5350392"/>
                  <a:pt x="728660" y="5358013"/>
                  <a:pt x="724278" y="5365062"/>
                </a:cubicBezTo>
                <a:cubicBezTo>
                  <a:pt x="719849" y="5372206"/>
                  <a:pt x="714527" y="5377552"/>
                  <a:pt x="708621" y="5381222"/>
                </a:cubicBezTo>
                <a:lnTo>
                  <a:pt x="691439" y="5386697"/>
                </a:lnTo>
                <a:lnTo>
                  <a:pt x="708622" y="5381222"/>
                </a:lnTo>
                <a:cubicBezTo>
                  <a:pt x="714527" y="5377552"/>
                  <a:pt x="719849" y="5372206"/>
                  <a:pt x="724279" y="5365062"/>
                </a:cubicBezTo>
                <a:cubicBezTo>
                  <a:pt x="728660" y="5358013"/>
                  <a:pt x="733899" y="5350392"/>
                  <a:pt x="739852" y="5343843"/>
                </a:cubicBezTo>
                <a:close/>
                <a:moveTo>
                  <a:pt x="8934151" y="5275333"/>
                </a:moveTo>
                <a:cubicBezTo>
                  <a:pt x="8940248" y="5280573"/>
                  <a:pt x="8947058" y="5285906"/>
                  <a:pt x="8954249" y="5290264"/>
                </a:cubicBezTo>
                <a:lnTo>
                  <a:pt x="8962389" y="5293563"/>
                </a:lnTo>
                <a:lnTo>
                  <a:pt x="8954250" y="5290264"/>
                </a:lnTo>
                <a:cubicBezTo>
                  <a:pt x="8947058" y="5285906"/>
                  <a:pt x="8940248" y="5280573"/>
                  <a:pt x="8934151" y="5275333"/>
                </a:cubicBezTo>
                <a:close/>
                <a:moveTo>
                  <a:pt x="2314816" y="5273737"/>
                </a:moveTo>
                <a:cubicBezTo>
                  <a:pt x="2309720" y="5274714"/>
                  <a:pt x="2304339" y="5276762"/>
                  <a:pt x="2300909" y="5279143"/>
                </a:cubicBezTo>
                <a:cubicBezTo>
                  <a:pt x="2267856" y="5302385"/>
                  <a:pt x="2242281" y="5314291"/>
                  <a:pt x="2216515" y="5314887"/>
                </a:cubicBezTo>
                <a:cubicBezTo>
                  <a:pt x="2242281" y="5314291"/>
                  <a:pt x="2267856" y="5302385"/>
                  <a:pt x="2300910" y="5279143"/>
                </a:cubicBezTo>
                <a:close/>
                <a:moveTo>
                  <a:pt x="1916629" y="5252000"/>
                </a:moveTo>
                <a:lnTo>
                  <a:pt x="1907132" y="5255330"/>
                </a:lnTo>
                <a:lnTo>
                  <a:pt x="1866619" y="5265015"/>
                </a:lnTo>
                <a:lnTo>
                  <a:pt x="1907133" y="5255330"/>
                </a:lnTo>
                <a:close/>
                <a:moveTo>
                  <a:pt x="2058204" y="5241232"/>
                </a:moveTo>
                <a:cubicBezTo>
                  <a:pt x="2076636" y="5242946"/>
                  <a:pt x="2095174" y="5243803"/>
                  <a:pt x="2108194" y="5255939"/>
                </a:cubicBezTo>
                <a:cubicBezTo>
                  <a:pt x="2095175" y="5243803"/>
                  <a:pt x="2076636" y="5242946"/>
                  <a:pt x="2058204" y="5241232"/>
                </a:cubicBezTo>
                <a:close/>
                <a:moveTo>
                  <a:pt x="0" y="0"/>
                </a:moveTo>
                <a:lnTo>
                  <a:pt x="12191456" y="0"/>
                </a:lnTo>
                <a:lnTo>
                  <a:pt x="12191456" y="873938"/>
                </a:lnTo>
                <a:lnTo>
                  <a:pt x="12192000" y="873938"/>
                </a:lnTo>
                <a:lnTo>
                  <a:pt x="12192000" y="3249107"/>
                </a:lnTo>
                <a:cubicBezTo>
                  <a:pt x="12192000" y="3264730"/>
                  <a:pt x="12192000" y="3274255"/>
                  <a:pt x="12192000" y="3283970"/>
                </a:cubicBezTo>
                <a:lnTo>
                  <a:pt x="12192000" y="3681702"/>
                </a:lnTo>
                <a:lnTo>
                  <a:pt x="12160947" y="3710323"/>
                </a:lnTo>
                <a:cubicBezTo>
                  <a:pt x="12118083" y="3731849"/>
                  <a:pt x="12072360" y="3751282"/>
                  <a:pt x="12026448" y="3770523"/>
                </a:cubicBezTo>
                <a:cubicBezTo>
                  <a:pt x="12013114" y="3776049"/>
                  <a:pt x="11998443" y="3779097"/>
                  <a:pt x="11986443" y="3786526"/>
                </a:cubicBezTo>
                <a:cubicBezTo>
                  <a:pt x="11931195" y="3820436"/>
                  <a:pt x="11877664" y="3857014"/>
                  <a:pt x="11821656" y="3889591"/>
                </a:cubicBezTo>
                <a:cubicBezTo>
                  <a:pt x="11763931" y="3923310"/>
                  <a:pt x="11712304" y="3963126"/>
                  <a:pt x="11672489" y="4017039"/>
                </a:cubicBezTo>
                <a:cubicBezTo>
                  <a:pt x="11635529" y="4067143"/>
                  <a:pt x="11599714" y="4118007"/>
                  <a:pt x="11562947" y="4168300"/>
                </a:cubicBezTo>
                <a:cubicBezTo>
                  <a:pt x="11553613" y="4181065"/>
                  <a:pt x="11545039" y="4196115"/>
                  <a:pt x="11532275" y="4204307"/>
                </a:cubicBezTo>
                <a:cubicBezTo>
                  <a:pt x="11505795" y="4221452"/>
                  <a:pt x="11476838" y="4235359"/>
                  <a:pt x="11448453" y="4249457"/>
                </a:cubicBezTo>
                <a:cubicBezTo>
                  <a:pt x="11424069" y="4261459"/>
                  <a:pt x="11398160" y="4270411"/>
                  <a:pt x="11374346" y="4283366"/>
                </a:cubicBezTo>
                <a:cubicBezTo>
                  <a:pt x="11355296" y="4293655"/>
                  <a:pt x="11338339" y="4307943"/>
                  <a:pt x="11320623" y="4320897"/>
                </a:cubicBezTo>
                <a:cubicBezTo>
                  <a:pt x="11305192" y="4332136"/>
                  <a:pt x="11288238" y="4341852"/>
                  <a:pt x="11275283" y="4355378"/>
                </a:cubicBezTo>
                <a:cubicBezTo>
                  <a:pt x="11243658" y="4388145"/>
                  <a:pt x="11211843" y="4420340"/>
                  <a:pt x="11172600" y="4444536"/>
                </a:cubicBezTo>
                <a:cubicBezTo>
                  <a:pt x="11133927" y="4468538"/>
                  <a:pt x="11097350" y="4495401"/>
                  <a:pt x="11058869" y="4519786"/>
                </a:cubicBezTo>
                <a:cubicBezTo>
                  <a:pt x="11021146" y="4543599"/>
                  <a:pt x="10987046" y="4569697"/>
                  <a:pt x="10967423" y="4611991"/>
                </a:cubicBezTo>
                <a:cubicBezTo>
                  <a:pt x="10958661" y="4630659"/>
                  <a:pt x="10946279" y="4651044"/>
                  <a:pt x="10929704" y="4661903"/>
                </a:cubicBezTo>
                <a:cubicBezTo>
                  <a:pt x="10906081" y="4677334"/>
                  <a:pt x="10876171" y="4682859"/>
                  <a:pt x="10850453" y="4696003"/>
                </a:cubicBezTo>
                <a:cubicBezTo>
                  <a:pt x="10820162" y="4711434"/>
                  <a:pt x="10785111" y="4724770"/>
                  <a:pt x="10764534" y="4749345"/>
                </a:cubicBezTo>
                <a:cubicBezTo>
                  <a:pt x="10746246" y="4771255"/>
                  <a:pt x="10727767" y="4788399"/>
                  <a:pt x="10703573" y="4802305"/>
                </a:cubicBezTo>
                <a:cubicBezTo>
                  <a:pt x="10686617" y="4812022"/>
                  <a:pt x="10674046" y="4829738"/>
                  <a:pt x="10656519" y="4837740"/>
                </a:cubicBezTo>
                <a:cubicBezTo>
                  <a:pt x="10633467" y="4848409"/>
                  <a:pt x="10610225" y="4856791"/>
                  <a:pt x="10590031" y="4873366"/>
                </a:cubicBezTo>
                <a:cubicBezTo>
                  <a:pt x="10569075" y="4890510"/>
                  <a:pt x="10545263" y="4904036"/>
                  <a:pt x="10523354" y="4920039"/>
                </a:cubicBezTo>
                <a:cubicBezTo>
                  <a:pt x="10511734" y="4928611"/>
                  <a:pt x="10502208" y="4939851"/>
                  <a:pt x="10490969" y="4948806"/>
                </a:cubicBezTo>
                <a:cubicBezTo>
                  <a:pt x="10470394" y="4965188"/>
                  <a:pt x="10449438" y="4981191"/>
                  <a:pt x="10428291" y="4996622"/>
                </a:cubicBezTo>
                <a:cubicBezTo>
                  <a:pt x="10407146" y="5012055"/>
                  <a:pt x="10386952" y="5029961"/>
                  <a:pt x="10363709" y="5041201"/>
                </a:cubicBezTo>
                <a:cubicBezTo>
                  <a:pt x="10324086" y="5060251"/>
                  <a:pt x="10280840" y="5071682"/>
                  <a:pt x="10242357" y="5092257"/>
                </a:cubicBezTo>
                <a:cubicBezTo>
                  <a:pt x="10203304" y="5113211"/>
                  <a:pt x="10166536" y="5139503"/>
                  <a:pt x="10131863" y="5167315"/>
                </a:cubicBezTo>
                <a:cubicBezTo>
                  <a:pt x="10104430" y="5189224"/>
                  <a:pt x="10078713" y="5210943"/>
                  <a:pt x="10044230" y="5222182"/>
                </a:cubicBezTo>
                <a:cubicBezTo>
                  <a:pt x="10024990" y="5228470"/>
                  <a:pt x="10004797" y="5242186"/>
                  <a:pt x="9993175" y="5258189"/>
                </a:cubicBezTo>
                <a:cubicBezTo>
                  <a:pt x="9968027" y="5293049"/>
                  <a:pt x="9935832" y="5317626"/>
                  <a:pt x="9899446" y="5338582"/>
                </a:cubicBezTo>
                <a:cubicBezTo>
                  <a:pt x="9850865" y="5366776"/>
                  <a:pt x="9802858" y="5395543"/>
                  <a:pt x="9754088" y="5423166"/>
                </a:cubicBezTo>
                <a:cubicBezTo>
                  <a:pt x="9725323" y="5439551"/>
                  <a:pt x="9696749" y="5456885"/>
                  <a:pt x="9666265" y="5468888"/>
                </a:cubicBezTo>
                <a:cubicBezTo>
                  <a:pt x="9603971" y="5493655"/>
                  <a:pt x="9540152" y="5514799"/>
                  <a:pt x="9477283" y="5537851"/>
                </a:cubicBezTo>
                <a:cubicBezTo>
                  <a:pt x="9456709" y="5545280"/>
                  <a:pt x="9437278" y="5555949"/>
                  <a:pt x="9416321" y="5562426"/>
                </a:cubicBezTo>
                <a:cubicBezTo>
                  <a:pt x="9393650" y="5569475"/>
                  <a:pt x="9369267" y="5571571"/>
                  <a:pt x="9346597" y="5578619"/>
                </a:cubicBezTo>
                <a:cubicBezTo>
                  <a:pt x="9308875" y="5590240"/>
                  <a:pt x="9272298" y="5605101"/>
                  <a:pt x="9234579" y="5616911"/>
                </a:cubicBezTo>
                <a:cubicBezTo>
                  <a:pt x="9161805" y="5639582"/>
                  <a:pt x="9088840" y="5661299"/>
                  <a:pt x="9015878" y="5682826"/>
                </a:cubicBezTo>
                <a:cubicBezTo>
                  <a:pt x="9000257" y="5687399"/>
                  <a:pt x="8983301" y="5687970"/>
                  <a:pt x="8967871" y="5692923"/>
                </a:cubicBezTo>
                <a:cubicBezTo>
                  <a:pt x="8926911" y="5706259"/>
                  <a:pt x="8886142" y="5720736"/>
                  <a:pt x="8845565" y="5735407"/>
                </a:cubicBezTo>
                <a:cubicBezTo>
                  <a:pt x="8820990" y="5744361"/>
                  <a:pt x="8796985" y="5755409"/>
                  <a:pt x="8772219" y="5763982"/>
                </a:cubicBezTo>
                <a:cubicBezTo>
                  <a:pt x="8752407" y="5770840"/>
                  <a:pt x="8732023" y="5776174"/>
                  <a:pt x="8711448" y="5780366"/>
                </a:cubicBezTo>
                <a:cubicBezTo>
                  <a:pt x="8693731" y="5783986"/>
                  <a:pt x="8675253" y="5783603"/>
                  <a:pt x="8657726" y="5787986"/>
                </a:cubicBezTo>
                <a:cubicBezTo>
                  <a:pt x="8610288" y="5799797"/>
                  <a:pt x="8563425" y="5813133"/>
                  <a:pt x="8516369" y="5825705"/>
                </a:cubicBezTo>
                <a:cubicBezTo>
                  <a:pt x="8497511" y="5830659"/>
                  <a:pt x="8478269" y="5834280"/>
                  <a:pt x="8459979" y="5840566"/>
                </a:cubicBezTo>
                <a:cubicBezTo>
                  <a:pt x="8411019" y="5857141"/>
                  <a:pt x="8362822" y="5875999"/>
                  <a:pt x="8313671" y="5891622"/>
                </a:cubicBezTo>
                <a:cubicBezTo>
                  <a:pt x="8272903" y="5904576"/>
                  <a:pt x="8230992" y="5913910"/>
                  <a:pt x="8189651" y="5925341"/>
                </a:cubicBezTo>
                <a:cubicBezTo>
                  <a:pt x="8172124" y="5930295"/>
                  <a:pt x="8155359" y="5937343"/>
                  <a:pt x="8137835" y="5941534"/>
                </a:cubicBezTo>
                <a:cubicBezTo>
                  <a:pt x="8098590" y="5951059"/>
                  <a:pt x="8058774" y="5959059"/>
                  <a:pt x="8019339" y="5968586"/>
                </a:cubicBezTo>
                <a:cubicBezTo>
                  <a:pt x="7996859" y="5974110"/>
                  <a:pt x="7975142" y="5984017"/>
                  <a:pt x="7952280" y="5987637"/>
                </a:cubicBezTo>
                <a:cubicBezTo>
                  <a:pt x="7897987" y="5996209"/>
                  <a:pt x="7843311" y="6002305"/>
                  <a:pt x="7788636" y="6009163"/>
                </a:cubicBezTo>
                <a:cubicBezTo>
                  <a:pt x="7732247" y="6016211"/>
                  <a:pt x="7676047" y="6023642"/>
                  <a:pt x="7619655" y="6029928"/>
                </a:cubicBezTo>
                <a:cubicBezTo>
                  <a:pt x="7588795" y="6033168"/>
                  <a:pt x="7557742" y="6033738"/>
                  <a:pt x="7526880" y="6036786"/>
                </a:cubicBezTo>
                <a:cubicBezTo>
                  <a:pt x="7499828" y="6039455"/>
                  <a:pt x="7472967" y="6044407"/>
                  <a:pt x="7445916" y="6047647"/>
                </a:cubicBezTo>
                <a:cubicBezTo>
                  <a:pt x="7422483" y="6050313"/>
                  <a:pt x="7398860" y="6051837"/>
                  <a:pt x="7375428" y="6054505"/>
                </a:cubicBezTo>
                <a:cubicBezTo>
                  <a:pt x="7337899" y="6058885"/>
                  <a:pt x="7300559" y="6063839"/>
                  <a:pt x="7263220" y="6068411"/>
                </a:cubicBezTo>
                <a:cubicBezTo>
                  <a:pt x="7247599" y="6070126"/>
                  <a:pt x="7231214" y="6074888"/>
                  <a:pt x="7216547" y="6072032"/>
                </a:cubicBezTo>
                <a:cubicBezTo>
                  <a:pt x="7179587" y="6064791"/>
                  <a:pt x="7143199" y="6066887"/>
                  <a:pt x="7106432" y="6071840"/>
                </a:cubicBezTo>
                <a:cubicBezTo>
                  <a:pt x="7093860" y="6073555"/>
                  <a:pt x="7080334" y="6073174"/>
                  <a:pt x="7068141" y="6069936"/>
                </a:cubicBezTo>
                <a:cubicBezTo>
                  <a:pt x="7043184" y="6063457"/>
                  <a:pt x="7018991" y="6054313"/>
                  <a:pt x="6994415" y="6046313"/>
                </a:cubicBezTo>
                <a:cubicBezTo>
                  <a:pt x="6991747" y="6045361"/>
                  <a:pt x="6988509" y="6045169"/>
                  <a:pt x="6985653" y="6044599"/>
                </a:cubicBezTo>
                <a:cubicBezTo>
                  <a:pt x="6969457" y="6041359"/>
                  <a:pt x="6953457" y="6038120"/>
                  <a:pt x="6937263" y="6035263"/>
                </a:cubicBezTo>
                <a:cubicBezTo>
                  <a:pt x="6928501" y="6033738"/>
                  <a:pt x="6919547" y="6033549"/>
                  <a:pt x="6910782" y="6032214"/>
                </a:cubicBezTo>
                <a:cubicBezTo>
                  <a:pt x="6876872" y="6026880"/>
                  <a:pt x="6839534" y="6035834"/>
                  <a:pt x="6810195" y="6012784"/>
                </a:cubicBezTo>
                <a:cubicBezTo>
                  <a:pt x="6791144" y="5997923"/>
                  <a:pt x="6772665" y="6001353"/>
                  <a:pt x="6752283" y="6003639"/>
                </a:cubicBezTo>
                <a:cubicBezTo>
                  <a:pt x="6736851" y="6005353"/>
                  <a:pt x="6721038" y="6004782"/>
                  <a:pt x="6705417" y="6004974"/>
                </a:cubicBezTo>
                <a:cubicBezTo>
                  <a:pt x="6677984" y="6005543"/>
                  <a:pt x="6650551" y="6005735"/>
                  <a:pt x="6623118" y="6006687"/>
                </a:cubicBezTo>
                <a:cubicBezTo>
                  <a:pt x="6614353" y="6007067"/>
                  <a:pt x="6605401" y="6011832"/>
                  <a:pt x="6596828" y="6011070"/>
                </a:cubicBezTo>
                <a:cubicBezTo>
                  <a:pt x="6557201" y="6007449"/>
                  <a:pt x="6517576" y="6001734"/>
                  <a:pt x="6477951" y="5998495"/>
                </a:cubicBezTo>
                <a:cubicBezTo>
                  <a:pt x="6455472" y="5996591"/>
                  <a:pt x="6432420" y="6000209"/>
                  <a:pt x="6410131" y="5997543"/>
                </a:cubicBezTo>
                <a:cubicBezTo>
                  <a:pt x="6384414" y="5994495"/>
                  <a:pt x="6359268" y="5986685"/>
                  <a:pt x="6333739" y="5981920"/>
                </a:cubicBezTo>
                <a:cubicBezTo>
                  <a:pt x="6326691" y="5980589"/>
                  <a:pt x="6318880" y="5982303"/>
                  <a:pt x="6311449" y="5982682"/>
                </a:cubicBezTo>
                <a:cubicBezTo>
                  <a:pt x="6303068" y="5983064"/>
                  <a:pt x="6294876" y="5983826"/>
                  <a:pt x="6286493" y="5984017"/>
                </a:cubicBezTo>
                <a:cubicBezTo>
                  <a:pt x="6260964" y="5984399"/>
                  <a:pt x="6235437" y="5983826"/>
                  <a:pt x="6209909" y="5985161"/>
                </a:cubicBezTo>
                <a:cubicBezTo>
                  <a:pt x="6194288" y="5985922"/>
                  <a:pt x="6177905" y="5993733"/>
                  <a:pt x="6163425" y="5990874"/>
                </a:cubicBezTo>
                <a:cubicBezTo>
                  <a:pt x="6133897" y="5985351"/>
                  <a:pt x="6104368" y="5997733"/>
                  <a:pt x="6074842" y="5987447"/>
                </a:cubicBezTo>
                <a:cubicBezTo>
                  <a:pt x="6065695" y="5984399"/>
                  <a:pt x="6053124" y="5992019"/>
                  <a:pt x="6042072" y="5992399"/>
                </a:cubicBezTo>
                <a:cubicBezTo>
                  <a:pt x="6014449" y="5993351"/>
                  <a:pt x="5986828" y="5993161"/>
                  <a:pt x="5959204" y="5992971"/>
                </a:cubicBezTo>
                <a:cubicBezTo>
                  <a:pt x="5934438" y="5992781"/>
                  <a:pt x="5908719" y="5995447"/>
                  <a:pt x="5884906" y="5990113"/>
                </a:cubicBezTo>
                <a:cubicBezTo>
                  <a:pt x="5859949" y="5984399"/>
                  <a:pt x="5837471" y="5985161"/>
                  <a:pt x="5813275" y="5991637"/>
                </a:cubicBezTo>
                <a:cubicBezTo>
                  <a:pt x="5796702" y="5996019"/>
                  <a:pt x="5779174" y="5996591"/>
                  <a:pt x="5762029" y="5997923"/>
                </a:cubicBezTo>
                <a:cubicBezTo>
                  <a:pt x="5743551" y="5999447"/>
                  <a:pt x="5723166" y="5995447"/>
                  <a:pt x="5706401" y="6001734"/>
                </a:cubicBezTo>
                <a:cubicBezTo>
                  <a:pt x="5656488" y="6020403"/>
                  <a:pt x="5605244" y="6024403"/>
                  <a:pt x="5553045" y="6024403"/>
                </a:cubicBezTo>
                <a:cubicBezTo>
                  <a:pt x="5543518" y="6024403"/>
                  <a:pt x="5533802" y="6021738"/>
                  <a:pt x="5524660" y="6018880"/>
                </a:cubicBezTo>
                <a:cubicBezTo>
                  <a:pt x="5471316" y="6001734"/>
                  <a:pt x="5417784" y="6003257"/>
                  <a:pt x="5363491" y="6013736"/>
                </a:cubicBezTo>
                <a:cubicBezTo>
                  <a:pt x="5352250" y="6016022"/>
                  <a:pt x="5339677" y="6016403"/>
                  <a:pt x="5328438" y="6014118"/>
                </a:cubicBezTo>
                <a:cubicBezTo>
                  <a:pt x="5296812" y="6007449"/>
                  <a:pt x="5266141" y="5996399"/>
                  <a:pt x="5234326" y="5991637"/>
                </a:cubicBezTo>
                <a:cubicBezTo>
                  <a:pt x="5181748" y="5983826"/>
                  <a:pt x="5136216" y="6010115"/>
                  <a:pt x="5089162" y="6027262"/>
                </a:cubicBezTo>
                <a:cubicBezTo>
                  <a:pt x="5044391" y="6043455"/>
                  <a:pt x="5006292" y="6080032"/>
                  <a:pt x="4953328" y="6071840"/>
                </a:cubicBezTo>
                <a:cubicBezTo>
                  <a:pt x="4947996" y="6071078"/>
                  <a:pt x="4942089" y="6076222"/>
                  <a:pt x="4936184" y="6077555"/>
                </a:cubicBezTo>
                <a:cubicBezTo>
                  <a:pt x="4919991" y="6081176"/>
                  <a:pt x="4903799" y="6085555"/>
                  <a:pt x="4887415" y="6087272"/>
                </a:cubicBezTo>
                <a:cubicBezTo>
                  <a:pt x="4867412" y="6089558"/>
                  <a:pt x="4847027" y="6088797"/>
                  <a:pt x="4827024" y="6090701"/>
                </a:cubicBezTo>
                <a:cubicBezTo>
                  <a:pt x="4814165" y="6091844"/>
                  <a:pt x="4801401" y="6093939"/>
                  <a:pt x="4788661" y="6095749"/>
                </a:cubicBezTo>
                <a:lnTo>
                  <a:pt x="4785776" y="6096000"/>
                </a:lnTo>
                <a:lnTo>
                  <a:pt x="4726469" y="6096000"/>
                </a:lnTo>
                <a:lnTo>
                  <a:pt x="4719697" y="6095130"/>
                </a:lnTo>
                <a:cubicBezTo>
                  <a:pt x="4709481" y="6092939"/>
                  <a:pt x="4699289" y="6090320"/>
                  <a:pt x="4689098" y="6088605"/>
                </a:cubicBezTo>
                <a:cubicBezTo>
                  <a:pt x="4660331" y="6083842"/>
                  <a:pt x="4628705" y="6085176"/>
                  <a:pt x="4603368" y="6072984"/>
                </a:cubicBezTo>
                <a:cubicBezTo>
                  <a:pt x="4576318" y="6060029"/>
                  <a:pt x="4550599" y="6054123"/>
                  <a:pt x="4522596" y="6058123"/>
                </a:cubicBezTo>
                <a:cubicBezTo>
                  <a:pt x="4513260" y="6059457"/>
                  <a:pt x="4501257" y="6067459"/>
                  <a:pt x="4497068" y="6075649"/>
                </a:cubicBezTo>
                <a:cubicBezTo>
                  <a:pt x="4487731" y="6093938"/>
                  <a:pt x="4474969" y="6097178"/>
                  <a:pt x="4457632" y="6090890"/>
                </a:cubicBezTo>
                <a:cubicBezTo>
                  <a:pt x="4442581" y="6085555"/>
                  <a:pt x="4424104" y="6082890"/>
                  <a:pt x="4413817" y="6072601"/>
                </a:cubicBezTo>
                <a:cubicBezTo>
                  <a:pt x="4384668" y="6043455"/>
                  <a:pt x="4347518" y="6042503"/>
                  <a:pt x="4311323" y="6034693"/>
                </a:cubicBezTo>
                <a:cubicBezTo>
                  <a:pt x="4289227" y="6029928"/>
                  <a:pt x="4268649" y="6029738"/>
                  <a:pt x="4246551" y="6032976"/>
                </a:cubicBezTo>
                <a:cubicBezTo>
                  <a:pt x="4198546" y="6040216"/>
                  <a:pt x="4151870" y="6029928"/>
                  <a:pt x="4105766" y="6016784"/>
                </a:cubicBezTo>
                <a:cubicBezTo>
                  <a:pt x="4075285" y="6008022"/>
                  <a:pt x="4044043" y="6002687"/>
                  <a:pt x="4013753" y="5993733"/>
                </a:cubicBezTo>
                <a:cubicBezTo>
                  <a:pt x="3991083" y="5986874"/>
                  <a:pt x="3968414" y="5978682"/>
                  <a:pt x="3947648" y="5967634"/>
                </a:cubicBezTo>
                <a:cubicBezTo>
                  <a:pt x="3917546" y="5951440"/>
                  <a:pt x="3891259" y="5927055"/>
                  <a:pt x="3852966" y="5933533"/>
                </a:cubicBezTo>
                <a:cubicBezTo>
                  <a:pt x="3819245" y="5939247"/>
                  <a:pt x="3788766" y="5927247"/>
                  <a:pt x="3757902" y="5915816"/>
                </a:cubicBezTo>
                <a:cubicBezTo>
                  <a:pt x="3735231" y="5907434"/>
                  <a:pt x="3712565" y="5898859"/>
                  <a:pt x="3689131" y="5893526"/>
                </a:cubicBezTo>
                <a:cubicBezTo>
                  <a:pt x="3661315" y="5887239"/>
                  <a:pt x="3629882" y="5889907"/>
                  <a:pt x="3605116" y="5878285"/>
                </a:cubicBezTo>
                <a:cubicBezTo>
                  <a:pt x="3579206" y="5866093"/>
                  <a:pt x="3557682" y="5874285"/>
                  <a:pt x="3534629" y="5877715"/>
                </a:cubicBezTo>
                <a:cubicBezTo>
                  <a:pt x="3497862" y="5883049"/>
                  <a:pt x="3461282" y="5892955"/>
                  <a:pt x="3424135" y="5880382"/>
                </a:cubicBezTo>
                <a:cubicBezTo>
                  <a:pt x="3378986" y="5865141"/>
                  <a:pt x="3334216" y="5848758"/>
                  <a:pt x="3288877" y="5834280"/>
                </a:cubicBezTo>
                <a:cubicBezTo>
                  <a:pt x="3271348" y="5828753"/>
                  <a:pt x="3252492" y="5826467"/>
                  <a:pt x="3234202" y="5823991"/>
                </a:cubicBezTo>
                <a:cubicBezTo>
                  <a:pt x="3216867" y="5821895"/>
                  <a:pt x="3196102" y="5827230"/>
                  <a:pt x="3182763" y="5819229"/>
                </a:cubicBezTo>
                <a:cubicBezTo>
                  <a:pt x="3148472" y="5798655"/>
                  <a:pt x="3113231" y="5788558"/>
                  <a:pt x="3073604" y="5788558"/>
                </a:cubicBezTo>
                <a:cubicBezTo>
                  <a:pt x="3058743" y="5788558"/>
                  <a:pt x="3044264" y="5779984"/>
                  <a:pt x="3029216" y="5778459"/>
                </a:cubicBezTo>
                <a:cubicBezTo>
                  <a:pt x="3008639" y="5776555"/>
                  <a:pt x="2985016" y="5771411"/>
                  <a:pt x="2967110" y="5778651"/>
                </a:cubicBezTo>
                <a:cubicBezTo>
                  <a:pt x="2925008" y="5795797"/>
                  <a:pt x="2890910" y="5781507"/>
                  <a:pt x="2854140" y="5764553"/>
                </a:cubicBezTo>
                <a:cubicBezTo>
                  <a:pt x="2817943" y="5747789"/>
                  <a:pt x="2779842" y="5734455"/>
                  <a:pt x="2741360" y="5723403"/>
                </a:cubicBezTo>
                <a:cubicBezTo>
                  <a:pt x="2726882" y="5719403"/>
                  <a:pt x="2709548" y="5726072"/>
                  <a:pt x="2693543" y="5727405"/>
                </a:cubicBezTo>
                <a:cubicBezTo>
                  <a:pt x="2687827" y="5727786"/>
                  <a:pt x="2681540" y="5728358"/>
                  <a:pt x="2676398" y="5726453"/>
                </a:cubicBezTo>
                <a:cubicBezTo>
                  <a:pt x="2626677" y="5708163"/>
                  <a:pt x="2576191" y="5694257"/>
                  <a:pt x="2522279" y="5703782"/>
                </a:cubicBezTo>
                <a:cubicBezTo>
                  <a:pt x="2517327" y="5704735"/>
                  <a:pt x="2511800" y="5702639"/>
                  <a:pt x="2506847" y="5701305"/>
                </a:cubicBezTo>
                <a:cubicBezTo>
                  <a:pt x="2482652" y="5694447"/>
                  <a:pt x="2459029" y="5683589"/>
                  <a:pt x="2434456" y="5681112"/>
                </a:cubicBezTo>
                <a:cubicBezTo>
                  <a:pt x="2373874" y="5675016"/>
                  <a:pt x="2312915" y="5672538"/>
                  <a:pt x="2251948" y="5668538"/>
                </a:cubicBezTo>
                <a:cubicBezTo>
                  <a:pt x="2248138" y="5668349"/>
                  <a:pt x="2244137" y="5668349"/>
                  <a:pt x="2240710" y="5667014"/>
                </a:cubicBezTo>
                <a:cubicBezTo>
                  <a:pt x="2218229" y="5658822"/>
                  <a:pt x="2198608" y="5661490"/>
                  <a:pt x="2179556" y="5677111"/>
                </a:cubicBezTo>
                <a:cubicBezTo>
                  <a:pt x="2171173" y="5683969"/>
                  <a:pt x="2159743" y="5687589"/>
                  <a:pt x="2149267" y="5691399"/>
                </a:cubicBezTo>
                <a:cubicBezTo>
                  <a:pt x="2133834" y="5697115"/>
                  <a:pt x="2118023" y="5702639"/>
                  <a:pt x="2102021" y="5706259"/>
                </a:cubicBezTo>
                <a:cubicBezTo>
                  <a:pt x="2086208" y="5709688"/>
                  <a:pt x="2069254" y="5714449"/>
                  <a:pt x="2054013" y="5711784"/>
                </a:cubicBezTo>
                <a:cubicBezTo>
                  <a:pt x="2026581" y="5707022"/>
                  <a:pt x="2000479" y="5696353"/>
                  <a:pt x="1973429" y="5689303"/>
                </a:cubicBezTo>
                <a:cubicBezTo>
                  <a:pt x="1964094" y="5686826"/>
                  <a:pt x="1953806" y="5687209"/>
                  <a:pt x="1944092" y="5687017"/>
                </a:cubicBezTo>
                <a:cubicBezTo>
                  <a:pt x="1921800" y="5686447"/>
                  <a:pt x="1898940" y="5691971"/>
                  <a:pt x="1878748" y="5676159"/>
                </a:cubicBezTo>
                <a:cubicBezTo>
                  <a:pt x="1860079" y="5661299"/>
                  <a:pt x="1841216" y="5665680"/>
                  <a:pt x="1821596" y="5676920"/>
                </a:cubicBezTo>
                <a:cubicBezTo>
                  <a:pt x="1807497" y="5684922"/>
                  <a:pt x="1791496" y="5691209"/>
                  <a:pt x="1775684" y="5694257"/>
                </a:cubicBezTo>
                <a:cubicBezTo>
                  <a:pt x="1753965" y="5698447"/>
                  <a:pt x="1732439" y="5700163"/>
                  <a:pt x="1709006" y="5697685"/>
                </a:cubicBezTo>
                <a:cubicBezTo>
                  <a:pt x="1692431" y="5695971"/>
                  <a:pt x="1678904" y="5695209"/>
                  <a:pt x="1665950" y="5685113"/>
                </a:cubicBezTo>
                <a:cubicBezTo>
                  <a:pt x="1663856" y="5683589"/>
                  <a:pt x="1660046" y="5683207"/>
                  <a:pt x="1657188" y="5683399"/>
                </a:cubicBezTo>
                <a:cubicBezTo>
                  <a:pt x="1619658" y="5686637"/>
                  <a:pt x="1582510" y="5684922"/>
                  <a:pt x="1544598" y="5682634"/>
                </a:cubicBezTo>
                <a:cubicBezTo>
                  <a:pt x="1496403" y="5679589"/>
                  <a:pt x="1445725" y="5688541"/>
                  <a:pt x="1404006" y="5720546"/>
                </a:cubicBezTo>
                <a:cubicBezTo>
                  <a:pt x="1397909" y="5725310"/>
                  <a:pt x="1388765" y="5727405"/>
                  <a:pt x="1380762" y="5728549"/>
                </a:cubicBezTo>
                <a:cubicBezTo>
                  <a:pt x="1343044" y="5733501"/>
                  <a:pt x="1305132" y="5736930"/>
                  <a:pt x="1267411" y="5742455"/>
                </a:cubicBezTo>
                <a:cubicBezTo>
                  <a:pt x="1246837" y="5745503"/>
                  <a:pt x="1225310" y="5748170"/>
                  <a:pt x="1206641" y="5756553"/>
                </a:cubicBezTo>
                <a:cubicBezTo>
                  <a:pt x="1188354" y="5764743"/>
                  <a:pt x="1173681" y="5774459"/>
                  <a:pt x="1162823" y="5757315"/>
                </a:cubicBezTo>
                <a:cubicBezTo>
                  <a:pt x="1143394" y="5766459"/>
                  <a:pt x="1126437" y="5774080"/>
                  <a:pt x="1109865" y="5782270"/>
                </a:cubicBezTo>
                <a:cubicBezTo>
                  <a:pt x="1103767" y="5785318"/>
                  <a:pt x="1098623" y="5790272"/>
                  <a:pt x="1092527" y="5793130"/>
                </a:cubicBezTo>
                <a:cubicBezTo>
                  <a:pt x="1086048" y="5796178"/>
                  <a:pt x="1078810" y="5798082"/>
                  <a:pt x="1071762" y="5799607"/>
                </a:cubicBezTo>
                <a:cubicBezTo>
                  <a:pt x="1040327" y="5806465"/>
                  <a:pt x="1008894" y="5812751"/>
                  <a:pt x="977653" y="5820182"/>
                </a:cubicBezTo>
                <a:cubicBezTo>
                  <a:pt x="971554" y="5821705"/>
                  <a:pt x="966411" y="5827801"/>
                  <a:pt x="960887" y="5831801"/>
                </a:cubicBezTo>
                <a:cubicBezTo>
                  <a:pt x="957266" y="5834470"/>
                  <a:pt x="953648" y="5838470"/>
                  <a:pt x="949646" y="5839042"/>
                </a:cubicBezTo>
                <a:cubicBezTo>
                  <a:pt x="919165" y="5843614"/>
                  <a:pt x="888877" y="5848949"/>
                  <a:pt x="858205" y="5851234"/>
                </a:cubicBezTo>
                <a:cubicBezTo>
                  <a:pt x="832486" y="5853138"/>
                  <a:pt x="807719" y="5852568"/>
                  <a:pt x="801053" y="5885715"/>
                </a:cubicBezTo>
                <a:cubicBezTo>
                  <a:pt x="799909" y="5891432"/>
                  <a:pt x="791717" y="5897528"/>
                  <a:pt x="785432" y="5900384"/>
                </a:cubicBezTo>
                <a:cubicBezTo>
                  <a:pt x="767524" y="5908576"/>
                  <a:pt x="748471" y="5914101"/>
                  <a:pt x="730754" y="5922482"/>
                </a:cubicBezTo>
                <a:cubicBezTo>
                  <a:pt x="672650" y="5950488"/>
                  <a:pt x="611880" y="5968205"/>
                  <a:pt x="546917" y="5964966"/>
                </a:cubicBezTo>
                <a:cubicBezTo>
                  <a:pt x="526724" y="5964014"/>
                  <a:pt x="507102" y="5953726"/>
                  <a:pt x="494337" y="5949915"/>
                </a:cubicBezTo>
                <a:cubicBezTo>
                  <a:pt x="457572" y="5964966"/>
                  <a:pt x="426709" y="5979445"/>
                  <a:pt x="394511" y="5990303"/>
                </a:cubicBezTo>
                <a:cubicBezTo>
                  <a:pt x="366127" y="6000019"/>
                  <a:pt x="336408" y="6006115"/>
                  <a:pt x="307259" y="6013163"/>
                </a:cubicBezTo>
                <a:cubicBezTo>
                  <a:pt x="296590" y="6015832"/>
                  <a:pt x="285732" y="6017355"/>
                  <a:pt x="274873" y="6018690"/>
                </a:cubicBezTo>
                <a:cubicBezTo>
                  <a:pt x="240965" y="6022880"/>
                  <a:pt x="205529" y="6012784"/>
                  <a:pt x="172384" y="6028786"/>
                </a:cubicBezTo>
                <a:cubicBezTo>
                  <a:pt x="155046" y="6037168"/>
                  <a:pt x="137898" y="6047265"/>
                  <a:pt x="119613" y="6051647"/>
                </a:cubicBezTo>
                <a:cubicBezTo>
                  <a:pt x="99990" y="6056409"/>
                  <a:pt x="80794" y="6063839"/>
                  <a:pt x="61197" y="6069150"/>
                </a:cubicBezTo>
                <a:lnTo>
                  <a:pt x="544" y="6073921"/>
                </a:lnTo>
                <a:lnTo>
                  <a:pt x="544" y="5946682"/>
                </a:lnTo>
                <a:lnTo>
                  <a:pt x="0" y="5946682"/>
                </a:lnTo>
                <a:lnTo>
                  <a:pt x="0" y="1335314"/>
                </a:lnTo>
                <a:lnTo>
                  <a:pt x="0" y="873938"/>
                </a:lnTo>
                <a:close/>
              </a:path>
            </a:pathLst>
          </a:custGeom>
          <a:effectLst>
            <a:outerShdw blurRad="381000" dist="152400" dir="5400000" algn="t" rotWithShape="0">
              <a:prstClr val="black">
                <a:alpha val="20000"/>
              </a:prstClr>
            </a:outerShdw>
          </a:effectLst>
        </p:spPr>
      </p:pic>
      <p:sp>
        <p:nvSpPr>
          <p:cNvPr id="12" name="Rectangle 41">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8762" cy="6038850"/>
          </a:xfrm>
          <a:custGeom>
            <a:avLst/>
            <a:gdLst>
              <a:gd name="connsiteX0" fmla="*/ 0 w 12192000"/>
              <a:gd name="connsiteY0" fmla="*/ 0 h 5835650"/>
              <a:gd name="connsiteX1" fmla="*/ 12192000 w 12192000"/>
              <a:gd name="connsiteY1" fmla="*/ 0 h 5835650"/>
              <a:gd name="connsiteX2" fmla="*/ 12192000 w 12192000"/>
              <a:gd name="connsiteY2" fmla="*/ 5835650 h 5835650"/>
              <a:gd name="connsiteX3" fmla="*/ 0 w 12192000"/>
              <a:gd name="connsiteY3" fmla="*/ 5835650 h 5835650"/>
              <a:gd name="connsiteX4" fmla="*/ 0 w 12192000"/>
              <a:gd name="connsiteY4" fmla="*/ 0 h 5835650"/>
              <a:gd name="connsiteX0" fmla="*/ 0 w 12198350"/>
              <a:gd name="connsiteY0" fmla="*/ 0 h 5835650"/>
              <a:gd name="connsiteX1" fmla="*/ 12192000 w 12198350"/>
              <a:gd name="connsiteY1" fmla="*/ 0 h 5835650"/>
              <a:gd name="connsiteX2" fmla="*/ 12198350 w 12198350"/>
              <a:gd name="connsiteY2" fmla="*/ 3505200 h 5835650"/>
              <a:gd name="connsiteX3" fmla="*/ 12192000 w 12198350"/>
              <a:gd name="connsiteY3" fmla="*/ 5835650 h 5835650"/>
              <a:gd name="connsiteX4" fmla="*/ 0 w 12198350"/>
              <a:gd name="connsiteY4" fmla="*/ 5835650 h 5835650"/>
              <a:gd name="connsiteX5" fmla="*/ 0 w 12198350"/>
              <a:gd name="connsiteY5" fmla="*/ 0 h 5835650"/>
              <a:gd name="connsiteX0" fmla="*/ 0 w 12198350"/>
              <a:gd name="connsiteY0" fmla="*/ 0 h 5835650"/>
              <a:gd name="connsiteX1" fmla="*/ 12192000 w 12198350"/>
              <a:gd name="connsiteY1" fmla="*/ 0 h 5835650"/>
              <a:gd name="connsiteX2" fmla="*/ 12198350 w 12198350"/>
              <a:gd name="connsiteY2" fmla="*/ 3505200 h 5835650"/>
              <a:gd name="connsiteX3" fmla="*/ 12192000 w 12198350"/>
              <a:gd name="connsiteY3" fmla="*/ 5835650 h 5835650"/>
              <a:gd name="connsiteX4" fmla="*/ 5060950 w 12198350"/>
              <a:gd name="connsiteY4" fmla="*/ 5835650 h 5835650"/>
              <a:gd name="connsiteX5" fmla="*/ 0 w 12198350"/>
              <a:gd name="connsiteY5" fmla="*/ 5835650 h 5835650"/>
              <a:gd name="connsiteX6" fmla="*/ 0 w 12198350"/>
              <a:gd name="connsiteY6" fmla="*/ 0 h 5835650"/>
              <a:gd name="connsiteX0" fmla="*/ 0 w 12198350"/>
              <a:gd name="connsiteY0" fmla="*/ 0 h 5835650"/>
              <a:gd name="connsiteX1" fmla="*/ 12192000 w 12198350"/>
              <a:gd name="connsiteY1" fmla="*/ 0 h 5835650"/>
              <a:gd name="connsiteX2" fmla="*/ 12198350 w 12198350"/>
              <a:gd name="connsiteY2" fmla="*/ 3505200 h 5835650"/>
              <a:gd name="connsiteX3" fmla="*/ 12192000 w 12198350"/>
              <a:gd name="connsiteY3" fmla="*/ 5835650 h 5835650"/>
              <a:gd name="connsiteX4" fmla="*/ 5060950 w 12198350"/>
              <a:gd name="connsiteY4" fmla="*/ 5835650 h 5835650"/>
              <a:gd name="connsiteX5" fmla="*/ 1822450 w 12198350"/>
              <a:gd name="connsiteY5" fmla="*/ 5829300 h 5835650"/>
              <a:gd name="connsiteX6" fmla="*/ 0 w 12198350"/>
              <a:gd name="connsiteY6" fmla="*/ 5835650 h 5835650"/>
              <a:gd name="connsiteX7" fmla="*/ 0 w 12198350"/>
              <a:gd name="connsiteY7" fmla="*/ 0 h 5835650"/>
              <a:gd name="connsiteX0" fmla="*/ 0 w 12198350"/>
              <a:gd name="connsiteY0" fmla="*/ 0 h 5835650"/>
              <a:gd name="connsiteX1" fmla="*/ 12192000 w 12198350"/>
              <a:gd name="connsiteY1" fmla="*/ 0 h 5835650"/>
              <a:gd name="connsiteX2" fmla="*/ 12198350 w 12198350"/>
              <a:gd name="connsiteY2" fmla="*/ 3505200 h 5835650"/>
              <a:gd name="connsiteX3" fmla="*/ 12192000 w 12198350"/>
              <a:gd name="connsiteY3" fmla="*/ 5835650 h 5835650"/>
              <a:gd name="connsiteX4" fmla="*/ 5060950 w 12198350"/>
              <a:gd name="connsiteY4" fmla="*/ 5835650 h 5835650"/>
              <a:gd name="connsiteX5" fmla="*/ 1727200 w 12198350"/>
              <a:gd name="connsiteY5" fmla="*/ 5486400 h 5835650"/>
              <a:gd name="connsiteX6" fmla="*/ 0 w 12198350"/>
              <a:gd name="connsiteY6" fmla="*/ 5835650 h 5835650"/>
              <a:gd name="connsiteX7" fmla="*/ 0 w 12198350"/>
              <a:gd name="connsiteY7" fmla="*/ 0 h 5835650"/>
              <a:gd name="connsiteX0" fmla="*/ 0 w 12198350"/>
              <a:gd name="connsiteY0" fmla="*/ 0 h 5835650"/>
              <a:gd name="connsiteX1" fmla="*/ 12192000 w 12198350"/>
              <a:gd name="connsiteY1" fmla="*/ 0 h 5835650"/>
              <a:gd name="connsiteX2" fmla="*/ 12198350 w 12198350"/>
              <a:gd name="connsiteY2" fmla="*/ 3505200 h 5835650"/>
              <a:gd name="connsiteX3" fmla="*/ 12192000 w 12198350"/>
              <a:gd name="connsiteY3" fmla="*/ 5835650 h 5835650"/>
              <a:gd name="connsiteX4" fmla="*/ 5060950 w 12198350"/>
              <a:gd name="connsiteY4" fmla="*/ 5835650 h 5835650"/>
              <a:gd name="connsiteX5" fmla="*/ 3854450 w 12198350"/>
              <a:gd name="connsiteY5" fmla="*/ 5695950 h 5835650"/>
              <a:gd name="connsiteX6" fmla="*/ 1727200 w 12198350"/>
              <a:gd name="connsiteY6" fmla="*/ 5486400 h 5835650"/>
              <a:gd name="connsiteX7" fmla="*/ 0 w 12198350"/>
              <a:gd name="connsiteY7" fmla="*/ 5835650 h 5835650"/>
              <a:gd name="connsiteX8" fmla="*/ 0 w 12198350"/>
              <a:gd name="connsiteY8" fmla="*/ 0 h 5835650"/>
              <a:gd name="connsiteX0" fmla="*/ 0 w 12198350"/>
              <a:gd name="connsiteY0" fmla="*/ 0 h 5842000"/>
              <a:gd name="connsiteX1" fmla="*/ 12192000 w 12198350"/>
              <a:gd name="connsiteY1" fmla="*/ 0 h 5842000"/>
              <a:gd name="connsiteX2" fmla="*/ 12198350 w 12198350"/>
              <a:gd name="connsiteY2" fmla="*/ 3505200 h 5842000"/>
              <a:gd name="connsiteX3" fmla="*/ 12192000 w 12198350"/>
              <a:gd name="connsiteY3" fmla="*/ 5835650 h 5842000"/>
              <a:gd name="connsiteX4" fmla="*/ 5060950 w 12198350"/>
              <a:gd name="connsiteY4" fmla="*/ 5835650 h 5842000"/>
              <a:gd name="connsiteX5" fmla="*/ 3663950 w 12198350"/>
              <a:gd name="connsiteY5" fmla="*/ 5842000 h 5842000"/>
              <a:gd name="connsiteX6" fmla="*/ 1727200 w 12198350"/>
              <a:gd name="connsiteY6" fmla="*/ 5486400 h 5842000"/>
              <a:gd name="connsiteX7" fmla="*/ 0 w 12198350"/>
              <a:gd name="connsiteY7" fmla="*/ 5835650 h 5842000"/>
              <a:gd name="connsiteX8" fmla="*/ 0 w 12198350"/>
              <a:gd name="connsiteY8" fmla="*/ 0 h 5842000"/>
              <a:gd name="connsiteX0" fmla="*/ 0 w 12198350"/>
              <a:gd name="connsiteY0" fmla="*/ 0 h 5924550"/>
              <a:gd name="connsiteX1" fmla="*/ 12192000 w 12198350"/>
              <a:gd name="connsiteY1" fmla="*/ 0 h 5924550"/>
              <a:gd name="connsiteX2" fmla="*/ 12198350 w 12198350"/>
              <a:gd name="connsiteY2" fmla="*/ 3505200 h 5924550"/>
              <a:gd name="connsiteX3" fmla="*/ 12192000 w 12198350"/>
              <a:gd name="connsiteY3" fmla="*/ 5835650 h 5924550"/>
              <a:gd name="connsiteX4" fmla="*/ 4883150 w 12198350"/>
              <a:gd name="connsiteY4" fmla="*/ 5924550 h 5924550"/>
              <a:gd name="connsiteX5" fmla="*/ 3663950 w 12198350"/>
              <a:gd name="connsiteY5" fmla="*/ 5842000 h 5924550"/>
              <a:gd name="connsiteX6" fmla="*/ 1727200 w 12198350"/>
              <a:gd name="connsiteY6" fmla="*/ 5486400 h 5924550"/>
              <a:gd name="connsiteX7" fmla="*/ 0 w 12198350"/>
              <a:gd name="connsiteY7" fmla="*/ 5835650 h 5924550"/>
              <a:gd name="connsiteX8" fmla="*/ 0 w 12198350"/>
              <a:gd name="connsiteY8" fmla="*/ 0 h 5924550"/>
              <a:gd name="connsiteX0" fmla="*/ 0 w 12198350"/>
              <a:gd name="connsiteY0" fmla="*/ 0 h 5924550"/>
              <a:gd name="connsiteX1" fmla="*/ 12192000 w 12198350"/>
              <a:gd name="connsiteY1" fmla="*/ 0 h 5924550"/>
              <a:gd name="connsiteX2" fmla="*/ 12198350 w 12198350"/>
              <a:gd name="connsiteY2" fmla="*/ 3505200 h 5924550"/>
              <a:gd name="connsiteX3" fmla="*/ 12192000 w 12198350"/>
              <a:gd name="connsiteY3" fmla="*/ 5835650 h 5924550"/>
              <a:gd name="connsiteX4" fmla="*/ 8318500 w 12198350"/>
              <a:gd name="connsiteY4" fmla="*/ 5867400 h 5924550"/>
              <a:gd name="connsiteX5" fmla="*/ 4883150 w 12198350"/>
              <a:gd name="connsiteY5" fmla="*/ 5924550 h 5924550"/>
              <a:gd name="connsiteX6" fmla="*/ 3663950 w 12198350"/>
              <a:gd name="connsiteY6" fmla="*/ 5842000 h 5924550"/>
              <a:gd name="connsiteX7" fmla="*/ 1727200 w 12198350"/>
              <a:gd name="connsiteY7" fmla="*/ 5486400 h 5924550"/>
              <a:gd name="connsiteX8" fmla="*/ 0 w 12198350"/>
              <a:gd name="connsiteY8" fmla="*/ 5835650 h 5924550"/>
              <a:gd name="connsiteX9" fmla="*/ 0 w 12198350"/>
              <a:gd name="connsiteY9" fmla="*/ 0 h 5924550"/>
              <a:gd name="connsiteX0" fmla="*/ 0 w 12198350"/>
              <a:gd name="connsiteY0" fmla="*/ 0 h 6038850"/>
              <a:gd name="connsiteX1" fmla="*/ 12192000 w 12198350"/>
              <a:gd name="connsiteY1" fmla="*/ 0 h 6038850"/>
              <a:gd name="connsiteX2" fmla="*/ 12198350 w 12198350"/>
              <a:gd name="connsiteY2" fmla="*/ 3505200 h 6038850"/>
              <a:gd name="connsiteX3" fmla="*/ 12192000 w 12198350"/>
              <a:gd name="connsiteY3" fmla="*/ 5835650 h 6038850"/>
              <a:gd name="connsiteX4" fmla="*/ 7219950 w 12198350"/>
              <a:gd name="connsiteY4" fmla="*/ 6038850 h 6038850"/>
              <a:gd name="connsiteX5" fmla="*/ 4883150 w 12198350"/>
              <a:gd name="connsiteY5" fmla="*/ 5924550 h 6038850"/>
              <a:gd name="connsiteX6" fmla="*/ 3663950 w 12198350"/>
              <a:gd name="connsiteY6" fmla="*/ 5842000 h 6038850"/>
              <a:gd name="connsiteX7" fmla="*/ 1727200 w 12198350"/>
              <a:gd name="connsiteY7" fmla="*/ 5486400 h 6038850"/>
              <a:gd name="connsiteX8" fmla="*/ 0 w 12198350"/>
              <a:gd name="connsiteY8" fmla="*/ 5835650 h 6038850"/>
              <a:gd name="connsiteX9" fmla="*/ 0 w 12198350"/>
              <a:gd name="connsiteY9"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2192000 w 12198350"/>
              <a:gd name="connsiteY3" fmla="*/ 5835650 h 6038850"/>
              <a:gd name="connsiteX4" fmla="*/ 9766300 w 12198350"/>
              <a:gd name="connsiteY4" fmla="*/ 5924550 h 6038850"/>
              <a:gd name="connsiteX5" fmla="*/ 7219950 w 12198350"/>
              <a:gd name="connsiteY5" fmla="*/ 6038850 h 6038850"/>
              <a:gd name="connsiteX6" fmla="*/ 4883150 w 12198350"/>
              <a:gd name="connsiteY6" fmla="*/ 5924550 h 6038850"/>
              <a:gd name="connsiteX7" fmla="*/ 3663950 w 12198350"/>
              <a:gd name="connsiteY7" fmla="*/ 5842000 h 6038850"/>
              <a:gd name="connsiteX8" fmla="*/ 1727200 w 12198350"/>
              <a:gd name="connsiteY8" fmla="*/ 5486400 h 6038850"/>
              <a:gd name="connsiteX9" fmla="*/ 0 w 12198350"/>
              <a:gd name="connsiteY9" fmla="*/ 5835650 h 6038850"/>
              <a:gd name="connsiteX10" fmla="*/ 0 w 12198350"/>
              <a:gd name="connsiteY10"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2192000 w 12198350"/>
              <a:gd name="connsiteY3" fmla="*/ 5835650 h 6038850"/>
              <a:gd name="connsiteX4" fmla="*/ 8813800 w 12198350"/>
              <a:gd name="connsiteY4" fmla="*/ 5746750 h 6038850"/>
              <a:gd name="connsiteX5" fmla="*/ 7219950 w 12198350"/>
              <a:gd name="connsiteY5" fmla="*/ 6038850 h 6038850"/>
              <a:gd name="connsiteX6" fmla="*/ 4883150 w 12198350"/>
              <a:gd name="connsiteY6" fmla="*/ 5924550 h 6038850"/>
              <a:gd name="connsiteX7" fmla="*/ 3663950 w 12198350"/>
              <a:gd name="connsiteY7" fmla="*/ 5842000 h 6038850"/>
              <a:gd name="connsiteX8" fmla="*/ 1727200 w 12198350"/>
              <a:gd name="connsiteY8" fmla="*/ 5486400 h 6038850"/>
              <a:gd name="connsiteX9" fmla="*/ 0 w 12198350"/>
              <a:gd name="connsiteY9" fmla="*/ 5835650 h 6038850"/>
              <a:gd name="connsiteX10" fmla="*/ 0 w 12198350"/>
              <a:gd name="connsiteY10"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0255250 w 12198350"/>
              <a:gd name="connsiteY3" fmla="*/ 4978400 h 6038850"/>
              <a:gd name="connsiteX4" fmla="*/ 8813800 w 12198350"/>
              <a:gd name="connsiteY4" fmla="*/ 5746750 h 6038850"/>
              <a:gd name="connsiteX5" fmla="*/ 7219950 w 12198350"/>
              <a:gd name="connsiteY5" fmla="*/ 6038850 h 6038850"/>
              <a:gd name="connsiteX6" fmla="*/ 4883150 w 12198350"/>
              <a:gd name="connsiteY6" fmla="*/ 5924550 h 6038850"/>
              <a:gd name="connsiteX7" fmla="*/ 3663950 w 12198350"/>
              <a:gd name="connsiteY7" fmla="*/ 5842000 h 6038850"/>
              <a:gd name="connsiteX8" fmla="*/ 1727200 w 12198350"/>
              <a:gd name="connsiteY8" fmla="*/ 5486400 h 6038850"/>
              <a:gd name="connsiteX9" fmla="*/ 0 w 12198350"/>
              <a:gd name="connsiteY9" fmla="*/ 5835650 h 6038850"/>
              <a:gd name="connsiteX10" fmla="*/ 0 w 12198350"/>
              <a:gd name="connsiteY10"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8813800 w 12198350"/>
              <a:gd name="connsiteY3" fmla="*/ 5746750 h 6038850"/>
              <a:gd name="connsiteX4" fmla="*/ 7219950 w 12198350"/>
              <a:gd name="connsiteY4" fmla="*/ 6038850 h 6038850"/>
              <a:gd name="connsiteX5" fmla="*/ 4883150 w 12198350"/>
              <a:gd name="connsiteY5" fmla="*/ 5924550 h 6038850"/>
              <a:gd name="connsiteX6" fmla="*/ 3663950 w 12198350"/>
              <a:gd name="connsiteY6" fmla="*/ 5842000 h 6038850"/>
              <a:gd name="connsiteX7" fmla="*/ 1727200 w 12198350"/>
              <a:gd name="connsiteY7" fmla="*/ 5486400 h 6038850"/>
              <a:gd name="connsiteX8" fmla="*/ 0 w 12198350"/>
              <a:gd name="connsiteY8" fmla="*/ 5835650 h 6038850"/>
              <a:gd name="connsiteX9" fmla="*/ 0 w 12198350"/>
              <a:gd name="connsiteY9"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0623550 w 12198350"/>
              <a:gd name="connsiteY3" fmla="*/ 4800600 h 6038850"/>
              <a:gd name="connsiteX4" fmla="*/ 8813800 w 12198350"/>
              <a:gd name="connsiteY4" fmla="*/ 5746750 h 6038850"/>
              <a:gd name="connsiteX5" fmla="*/ 7219950 w 12198350"/>
              <a:gd name="connsiteY5" fmla="*/ 6038850 h 6038850"/>
              <a:gd name="connsiteX6" fmla="*/ 4883150 w 12198350"/>
              <a:gd name="connsiteY6" fmla="*/ 5924550 h 6038850"/>
              <a:gd name="connsiteX7" fmla="*/ 3663950 w 12198350"/>
              <a:gd name="connsiteY7" fmla="*/ 5842000 h 6038850"/>
              <a:gd name="connsiteX8" fmla="*/ 1727200 w 12198350"/>
              <a:gd name="connsiteY8" fmla="*/ 5486400 h 6038850"/>
              <a:gd name="connsiteX9" fmla="*/ 0 w 12198350"/>
              <a:gd name="connsiteY9" fmla="*/ 5835650 h 6038850"/>
              <a:gd name="connsiteX10" fmla="*/ 0 w 12198350"/>
              <a:gd name="connsiteY10"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0185400 w 12198350"/>
              <a:gd name="connsiteY3" fmla="*/ 4978400 h 6038850"/>
              <a:gd name="connsiteX4" fmla="*/ 8813800 w 12198350"/>
              <a:gd name="connsiteY4" fmla="*/ 5746750 h 6038850"/>
              <a:gd name="connsiteX5" fmla="*/ 7219950 w 12198350"/>
              <a:gd name="connsiteY5" fmla="*/ 6038850 h 6038850"/>
              <a:gd name="connsiteX6" fmla="*/ 4883150 w 12198350"/>
              <a:gd name="connsiteY6" fmla="*/ 5924550 h 6038850"/>
              <a:gd name="connsiteX7" fmla="*/ 3663950 w 12198350"/>
              <a:gd name="connsiteY7" fmla="*/ 5842000 h 6038850"/>
              <a:gd name="connsiteX8" fmla="*/ 1727200 w 12198350"/>
              <a:gd name="connsiteY8" fmla="*/ 5486400 h 6038850"/>
              <a:gd name="connsiteX9" fmla="*/ 0 w 12198350"/>
              <a:gd name="connsiteY9" fmla="*/ 5835650 h 6038850"/>
              <a:gd name="connsiteX10" fmla="*/ 0 w 12198350"/>
              <a:gd name="connsiteY10"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1766550 w 12198350"/>
              <a:gd name="connsiteY3" fmla="*/ 4108450 h 6038850"/>
              <a:gd name="connsiteX4" fmla="*/ 10185400 w 12198350"/>
              <a:gd name="connsiteY4" fmla="*/ 4978400 h 6038850"/>
              <a:gd name="connsiteX5" fmla="*/ 8813800 w 12198350"/>
              <a:gd name="connsiteY5" fmla="*/ 5746750 h 6038850"/>
              <a:gd name="connsiteX6" fmla="*/ 7219950 w 12198350"/>
              <a:gd name="connsiteY6" fmla="*/ 6038850 h 6038850"/>
              <a:gd name="connsiteX7" fmla="*/ 4883150 w 12198350"/>
              <a:gd name="connsiteY7" fmla="*/ 5924550 h 6038850"/>
              <a:gd name="connsiteX8" fmla="*/ 3663950 w 12198350"/>
              <a:gd name="connsiteY8" fmla="*/ 5842000 h 6038850"/>
              <a:gd name="connsiteX9" fmla="*/ 1727200 w 12198350"/>
              <a:gd name="connsiteY9" fmla="*/ 5486400 h 6038850"/>
              <a:gd name="connsiteX10" fmla="*/ 0 w 12198350"/>
              <a:gd name="connsiteY10" fmla="*/ 5835650 h 6038850"/>
              <a:gd name="connsiteX11" fmla="*/ 0 w 12198350"/>
              <a:gd name="connsiteY11"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1341100 w 12198350"/>
              <a:gd name="connsiteY3" fmla="*/ 4267200 h 6038850"/>
              <a:gd name="connsiteX4" fmla="*/ 10185400 w 12198350"/>
              <a:gd name="connsiteY4" fmla="*/ 4978400 h 6038850"/>
              <a:gd name="connsiteX5" fmla="*/ 8813800 w 12198350"/>
              <a:gd name="connsiteY5" fmla="*/ 5746750 h 6038850"/>
              <a:gd name="connsiteX6" fmla="*/ 7219950 w 12198350"/>
              <a:gd name="connsiteY6" fmla="*/ 6038850 h 6038850"/>
              <a:gd name="connsiteX7" fmla="*/ 4883150 w 12198350"/>
              <a:gd name="connsiteY7" fmla="*/ 5924550 h 6038850"/>
              <a:gd name="connsiteX8" fmla="*/ 3663950 w 12198350"/>
              <a:gd name="connsiteY8" fmla="*/ 5842000 h 6038850"/>
              <a:gd name="connsiteX9" fmla="*/ 1727200 w 12198350"/>
              <a:gd name="connsiteY9" fmla="*/ 5486400 h 6038850"/>
              <a:gd name="connsiteX10" fmla="*/ 0 w 12198350"/>
              <a:gd name="connsiteY10" fmla="*/ 5835650 h 6038850"/>
              <a:gd name="connsiteX11" fmla="*/ 0 w 12198350"/>
              <a:gd name="connsiteY11"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1341100 w 12198350"/>
              <a:gd name="connsiteY3" fmla="*/ 4267200 h 6038850"/>
              <a:gd name="connsiteX4" fmla="*/ 10185400 w 12198350"/>
              <a:gd name="connsiteY4" fmla="*/ 4978400 h 6038850"/>
              <a:gd name="connsiteX5" fmla="*/ 8813800 w 12198350"/>
              <a:gd name="connsiteY5" fmla="*/ 5746750 h 6038850"/>
              <a:gd name="connsiteX6" fmla="*/ 7219950 w 12198350"/>
              <a:gd name="connsiteY6" fmla="*/ 6038850 h 6038850"/>
              <a:gd name="connsiteX7" fmla="*/ 4883150 w 12198350"/>
              <a:gd name="connsiteY7" fmla="*/ 5924550 h 6038850"/>
              <a:gd name="connsiteX8" fmla="*/ 3663950 w 12198350"/>
              <a:gd name="connsiteY8" fmla="*/ 5842000 h 6038850"/>
              <a:gd name="connsiteX9" fmla="*/ 1727200 w 12198350"/>
              <a:gd name="connsiteY9" fmla="*/ 5486400 h 6038850"/>
              <a:gd name="connsiteX10" fmla="*/ 0 w 12198350"/>
              <a:gd name="connsiteY10" fmla="*/ 5835650 h 6038850"/>
              <a:gd name="connsiteX11" fmla="*/ 0 w 12198350"/>
              <a:gd name="connsiteY11" fmla="*/ 0 h 6038850"/>
              <a:gd name="connsiteX0" fmla="*/ 0 w 12198350"/>
              <a:gd name="connsiteY0" fmla="*/ 0 h 6038850"/>
              <a:gd name="connsiteX1" fmla="*/ 12192000 w 12198350"/>
              <a:gd name="connsiteY1" fmla="*/ 0 h 6038850"/>
              <a:gd name="connsiteX2" fmla="*/ 12198350 w 12198350"/>
              <a:gd name="connsiteY2" fmla="*/ 3505200 h 6038850"/>
              <a:gd name="connsiteX3" fmla="*/ 11341100 w 12198350"/>
              <a:gd name="connsiteY3" fmla="*/ 4267200 h 6038850"/>
              <a:gd name="connsiteX4" fmla="*/ 10185400 w 12198350"/>
              <a:gd name="connsiteY4" fmla="*/ 4978400 h 6038850"/>
              <a:gd name="connsiteX5" fmla="*/ 8813800 w 12198350"/>
              <a:gd name="connsiteY5" fmla="*/ 5746750 h 6038850"/>
              <a:gd name="connsiteX6" fmla="*/ 7219950 w 12198350"/>
              <a:gd name="connsiteY6" fmla="*/ 6038850 h 6038850"/>
              <a:gd name="connsiteX7" fmla="*/ 4883150 w 12198350"/>
              <a:gd name="connsiteY7" fmla="*/ 5924550 h 6038850"/>
              <a:gd name="connsiteX8" fmla="*/ 3663950 w 12198350"/>
              <a:gd name="connsiteY8" fmla="*/ 5842000 h 6038850"/>
              <a:gd name="connsiteX9" fmla="*/ 1727200 w 12198350"/>
              <a:gd name="connsiteY9" fmla="*/ 5486400 h 6038850"/>
              <a:gd name="connsiteX10" fmla="*/ 0 w 12198350"/>
              <a:gd name="connsiteY10" fmla="*/ 5835650 h 6038850"/>
              <a:gd name="connsiteX11" fmla="*/ 0 w 12198350"/>
              <a:gd name="connsiteY11" fmla="*/ 0 h 603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8350" h="6038850">
                <a:moveTo>
                  <a:pt x="0" y="0"/>
                </a:moveTo>
                <a:lnTo>
                  <a:pt x="12192000" y="0"/>
                </a:lnTo>
                <a:cubicBezTo>
                  <a:pt x="12194117" y="1168400"/>
                  <a:pt x="12196233" y="2336800"/>
                  <a:pt x="12198350" y="3505200"/>
                </a:cubicBezTo>
                <a:cubicBezTo>
                  <a:pt x="11828992" y="3872442"/>
                  <a:pt x="11606741" y="4015317"/>
                  <a:pt x="11341100" y="4267200"/>
                </a:cubicBezTo>
                <a:cubicBezTo>
                  <a:pt x="11005609" y="4512733"/>
                  <a:pt x="10677525" y="4705350"/>
                  <a:pt x="10185400" y="4978400"/>
                </a:cubicBezTo>
                <a:cubicBezTo>
                  <a:pt x="9693275" y="5251450"/>
                  <a:pt x="9381067" y="5540375"/>
                  <a:pt x="8813800" y="5746750"/>
                </a:cubicBezTo>
                <a:lnTo>
                  <a:pt x="7219950" y="6038850"/>
                </a:lnTo>
                <a:lnTo>
                  <a:pt x="4883150" y="5924550"/>
                </a:lnTo>
                <a:lnTo>
                  <a:pt x="3663950" y="5842000"/>
                </a:lnTo>
                <a:lnTo>
                  <a:pt x="1727200" y="5486400"/>
                </a:lnTo>
                <a:lnTo>
                  <a:pt x="0" y="5835650"/>
                </a:lnTo>
                <a:lnTo>
                  <a:pt x="0" y="0"/>
                </a:lnTo>
                <a:close/>
              </a:path>
            </a:pathLst>
          </a:custGeom>
          <a:gradFill flip="none" rotWithShape="1">
            <a:gsLst>
              <a:gs pos="0">
                <a:srgbClr val="000000">
                  <a:alpha val="60000"/>
                </a:srgbClr>
              </a:gs>
              <a:gs pos="100000">
                <a:srgbClr val="000000">
                  <a:alpha val="0"/>
                </a:srgbClr>
              </a:gs>
              <a:gs pos="68000">
                <a:srgbClr val="000000">
                  <a:alpha val="4000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nvGrpSpPr>
          <p:cNvPr id="14" name="Group 13">
            <a:extLst>
              <a:ext uri="{FF2B5EF4-FFF2-40B4-BE49-F238E27FC236}">
                <a16:creationId xmlns:a16="http://schemas.microsoft.com/office/drawing/2014/main" id="{4252769E-B9F0-4068-A645-5BBEF16E9C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8" y="3296010"/>
            <a:ext cx="9143592" cy="2849976"/>
            <a:chOff x="476" y="-3923157"/>
            <a:chExt cx="10667524" cy="2493729"/>
          </a:xfrm>
        </p:grpSpPr>
        <p:sp>
          <p:nvSpPr>
            <p:cNvPr id="15" name="Freeform: Shape 14">
              <a:extLst>
                <a:ext uri="{FF2B5EF4-FFF2-40B4-BE49-F238E27FC236}">
                  <a16:creationId xmlns:a16="http://schemas.microsoft.com/office/drawing/2014/main" id="{1E12D6AD-7096-45BB-9C02-468B2704C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6"/>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39953252-97DE-4766-B2F6-E4FDA2FDA6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7"/>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52123D2F-A4D1-90FB-D982-65F9A72A0FDE}"/>
              </a:ext>
            </a:extLst>
          </p:cNvPr>
          <p:cNvSpPr>
            <a:spLocks noGrp="1"/>
          </p:cNvSpPr>
          <p:nvPr>
            <p:ph type="title"/>
          </p:nvPr>
        </p:nvSpPr>
        <p:spPr>
          <a:xfrm>
            <a:off x="3562587" y="1429834"/>
            <a:ext cx="5992893" cy="2308324"/>
          </a:xfrm>
        </p:spPr>
        <p:txBody>
          <a:bodyPr vert="horz" lIns="91440" tIns="45720" rIns="91440" bIns="45720" rtlCol="0" anchor="b">
            <a:normAutofit/>
          </a:bodyPr>
          <a:lstStyle/>
          <a:p>
            <a:pPr defTabSz="914400">
              <a:lnSpc>
                <a:spcPct val="90000"/>
              </a:lnSpc>
            </a:pPr>
            <a:r>
              <a:rPr lang="en-US" sz="6800" dirty="0">
                <a:solidFill>
                  <a:srgbClr val="FFFFFF"/>
                </a:solidFill>
                <a:latin typeface="Times New Roman" panose="02020603050405020304" pitchFamily="18" charset="0"/>
                <a:cs typeface="Times New Roman" panose="02020603050405020304" pitchFamily="18" charset="0"/>
              </a:rPr>
              <a:t>Thank you</a:t>
            </a:r>
          </a:p>
        </p:txBody>
      </p:sp>
      <p:sp>
        <p:nvSpPr>
          <p:cNvPr id="6" name="Slide Number Placeholder 5">
            <a:extLst>
              <a:ext uri="{FF2B5EF4-FFF2-40B4-BE49-F238E27FC236}">
                <a16:creationId xmlns:a16="http://schemas.microsoft.com/office/drawing/2014/main" id="{10D9FFA7-D4D4-94B0-DB4B-F3536C40BB6B}"/>
              </a:ext>
            </a:extLst>
          </p:cNvPr>
          <p:cNvSpPr>
            <a:spLocks noGrp="1"/>
          </p:cNvSpPr>
          <p:nvPr>
            <p:ph type="sldNum" sz="quarter" idx="12"/>
          </p:nvPr>
        </p:nvSpPr>
        <p:spPr/>
        <p:txBody>
          <a:bodyPr/>
          <a:lstStyle/>
          <a:p>
            <a:fld id="{C1FF6DA9-008F-8B48-92A6-B652298478BF}" type="slidenum">
              <a:rPr lang="en-US" sz="2000" smtClean="0">
                <a:solidFill>
                  <a:schemeClr val="bg1"/>
                </a:solidFill>
                <a:latin typeface="Times New Roman" panose="02020603050405020304" pitchFamily="18" charset="0"/>
                <a:cs typeface="Times New Roman" panose="02020603050405020304" pitchFamily="18" charset="0"/>
              </a:rPr>
              <a:t>28</a:t>
            </a:fld>
            <a:endParaRPr lang="en-US"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9151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209</TotalTime>
  <Words>1724</Words>
  <Application>Microsoft Office PowerPoint</Application>
  <PresentationFormat>On-screen Show (4:3)</PresentationFormat>
  <Paragraphs>200</Paragraphs>
  <Slides>28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Arial</vt:lpstr>
      <vt:lpstr>Calibri</vt:lpstr>
      <vt:lpstr>Times New Roman</vt:lpstr>
      <vt:lpstr>Wingdings</vt:lpstr>
      <vt:lpstr>Office Theme</vt:lpstr>
      <vt:lpstr>PowerPoint Presentation</vt:lpstr>
      <vt:lpstr>Introduction (Industry Context &amp; Problem)</vt:lpstr>
      <vt:lpstr>Introduction (Research Focus &amp; Contribution)</vt:lpstr>
      <vt:lpstr>Research Problem</vt:lpstr>
      <vt:lpstr>Aim</vt:lpstr>
      <vt:lpstr>Objectives</vt:lpstr>
      <vt:lpstr>Limitations</vt:lpstr>
      <vt:lpstr>Methodology</vt:lpstr>
      <vt:lpstr>Methodology</vt:lpstr>
      <vt:lpstr>Methodology</vt:lpstr>
      <vt:lpstr>Methodology</vt:lpstr>
      <vt:lpstr>Methodology</vt:lpstr>
      <vt:lpstr>Methodology</vt:lpstr>
      <vt:lpstr>Results Summary</vt:lpstr>
      <vt:lpstr>Player Impact Insight</vt:lpstr>
      <vt:lpstr>Player Impact Insight</vt:lpstr>
      <vt:lpstr>Results Summary</vt:lpstr>
      <vt:lpstr>Results Summary</vt:lpstr>
      <vt:lpstr>Player Impact Insight</vt:lpstr>
      <vt:lpstr>Results Summary</vt:lpstr>
      <vt:lpstr>Player Impact Rolling Score for Game</vt:lpstr>
      <vt:lpstr>Event Spikes</vt:lpstr>
      <vt:lpstr>Momentum Phase Classification</vt:lpstr>
      <vt:lpstr>Momentum Phase Classification</vt:lpstr>
      <vt:lpstr>Conclusion</vt:lpstr>
      <vt:lpstr>Conclusion</vt:lpstr>
      <vt:lpstr>Future Work</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Slide</dc:title>
  <dc:subject/>
  <dc:creator>Vaheeson WASANTHA KUMAR</dc:creator>
  <cp:keywords/>
  <dc:description>generated using python-pptx</dc:description>
  <cp:lastModifiedBy>Vaheeson WASANTHA KUMAR</cp:lastModifiedBy>
  <cp:revision>21</cp:revision>
  <dcterms:created xsi:type="dcterms:W3CDTF">2013-01-27T09:14:16Z</dcterms:created>
  <dcterms:modified xsi:type="dcterms:W3CDTF">2025-08-31T18:59:19Z</dcterms:modified>
  <cp:category/>
</cp:coreProperties>
</file>